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97" r:id="rId2"/>
    <p:sldId id="299" r:id="rId3"/>
    <p:sldId id="300" r:id="rId4"/>
    <p:sldId id="301" r:id="rId5"/>
    <p:sldId id="302" r:id="rId6"/>
    <p:sldId id="303" r:id="rId7"/>
    <p:sldId id="304" r:id="rId8"/>
    <p:sldId id="305" r:id="rId9"/>
    <p:sldId id="306" r:id="rId10"/>
    <p:sldId id="307" r:id="rId11"/>
    <p:sldId id="308" r:id="rId12"/>
    <p:sldId id="309" r:id="rId13"/>
    <p:sldId id="310" r:id="rId14"/>
    <p:sldId id="311" r:id="rId15"/>
    <p:sldId id="312" r:id="rId16"/>
    <p:sldId id="313" r:id="rId17"/>
    <p:sldId id="314" r:id="rId18"/>
    <p:sldId id="315" r:id="rId19"/>
    <p:sldId id="316" r:id="rId20"/>
    <p:sldId id="319" r:id="rId21"/>
    <p:sldId id="320" r:id="rId22"/>
    <p:sldId id="317" r:id="rId23"/>
    <p:sldId id="318" r:id="rId24"/>
    <p:sldId id="296"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570">
          <p15:clr>
            <a:srgbClr val="9AA0A6"/>
          </p15:clr>
        </p15:guide>
        <p15:guide id="2" pos="5868">
          <p15:clr>
            <a:srgbClr val="9AA0A6"/>
          </p15:clr>
        </p15:guide>
        <p15:guide id="3" orient="horz" pos="157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gzPzfW/Eqj5INjXEMP3JF+w7YJ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C2D7396-3E8A-4C48-A43C-EBEA59809495}">
  <a:tblStyle styleId="{2C2D7396-3E8A-4C48-A43C-EBEA5980949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825" autoAdjust="0"/>
  </p:normalViewPr>
  <p:slideViewPr>
    <p:cSldViewPr snapToGrid="0">
      <p:cViewPr>
        <p:scale>
          <a:sx n="60" d="100"/>
          <a:sy n="60" d="100"/>
        </p:scale>
        <p:origin x="1116" y="222"/>
      </p:cViewPr>
      <p:guideLst>
        <p:guide orient="horz" pos="1570"/>
        <p:guide pos="5868"/>
        <p:guide orient="horz" pos="15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1151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7" name="Google Shape;487;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39"/>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9"/>
          <p:cNvSpPr txBox="1">
            <a:spLocks noGrp="1"/>
          </p:cNvSpPr>
          <p:nvPr>
            <p:ph type="body" idx="1"/>
          </p:nvPr>
        </p:nvSpPr>
        <p:spPr>
          <a:xfrm>
            <a:off x="838200" y="1825625"/>
            <a:ext cx="10515600" cy="4351339"/>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39"/>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9"/>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9"/>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40"/>
          <p:cNvSpPr txBox="1">
            <a:spLocks noGrp="1"/>
          </p:cNvSpPr>
          <p:nvPr>
            <p:ph type="title"/>
          </p:nvPr>
        </p:nvSpPr>
        <p:spPr>
          <a:xfrm>
            <a:off x="831851" y="1709750"/>
            <a:ext cx="10515600" cy="2852737"/>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0"/>
          <p:cNvSpPr txBox="1">
            <a:spLocks noGrp="1"/>
          </p:cNvSpPr>
          <p:nvPr>
            <p:ph type="body" idx="1"/>
          </p:nvPr>
        </p:nvSpPr>
        <p:spPr>
          <a:xfrm>
            <a:off x="831851" y="4589465"/>
            <a:ext cx="10515600" cy="1500187"/>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9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2" name="Google Shape;52;p40"/>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0"/>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40"/>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43"/>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3"/>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3"/>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3"/>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44"/>
          <p:cNvSpPr txBox="1">
            <a:spLocks noGrp="1"/>
          </p:cNvSpPr>
          <p:nvPr>
            <p:ph type="title"/>
          </p:nvPr>
        </p:nvSpPr>
        <p:spPr>
          <a:xfrm>
            <a:off x="839788" y="457200"/>
            <a:ext cx="3932237" cy="1600200"/>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44"/>
          <p:cNvSpPr txBox="1">
            <a:spLocks noGrp="1"/>
          </p:cNvSpPr>
          <p:nvPr>
            <p:ph type="body" idx="1"/>
          </p:nvPr>
        </p:nvSpPr>
        <p:spPr>
          <a:xfrm>
            <a:off x="5183188" y="987437"/>
            <a:ext cx="6172200" cy="4873625"/>
          </a:xfrm>
          <a:prstGeom prst="rect">
            <a:avLst/>
          </a:prstGeom>
          <a:noFill/>
          <a:ln>
            <a:noFill/>
          </a:ln>
        </p:spPr>
        <p:txBody>
          <a:bodyPr spcFirstLastPara="1" wrap="square" lIns="91400" tIns="45675" rIns="91400" bIns="45675"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44"/>
          <p:cNvSpPr txBox="1">
            <a:spLocks noGrp="1"/>
          </p:cNvSpPr>
          <p:nvPr>
            <p:ph type="body" idx="2"/>
          </p:nvPr>
        </p:nvSpPr>
        <p:spPr>
          <a:xfrm>
            <a:off x="839788" y="2057403"/>
            <a:ext cx="3932237" cy="3811588"/>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5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100"/>
            </a:lvl4pPr>
            <a:lvl5pPr marL="2286000" lvl="4" indent="-228600" algn="l">
              <a:lnSpc>
                <a:spcPct val="90000"/>
              </a:lnSpc>
              <a:spcBef>
                <a:spcPts val="500"/>
              </a:spcBef>
              <a:spcAft>
                <a:spcPts val="0"/>
              </a:spcAft>
              <a:buClr>
                <a:schemeClr val="dk1"/>
              </a:buClr>
              <a:buSzPts val="1000"/>
              <a:buNone/>
              <a:defRPr sz="1100"/>
            </a:lvl5pPr>
            <a:lvl6pPr marL="2743200" lvl="5" indent="-228600" algn="l">
              <a:lnSpc>
                <a:spcPct val="90000"/>
              </a:lnSpc>
              <a:spcBef>
                <a:spcPts val="500"/>
              </a:spcBef>
              <a:spcAft>
                <a:spcPts val="0"/>
              </a:spcAft>
              <a:buClr>
                <a:schemeClr val="dk1"/>
              </a:buClr>
              <a:buSzPts val="1000"/>
              <a:buNone/>
              <a:defRPr sz="1100"/>
            </a:lvl6pPr>
            <a:lvl7pPr marL="3200400" lvl="6" indent="-228600" algn="l">
              <a:lnSpc>
                <a:spcPct val="90000"/>
              </a:lnSpc>
              <a:spcBef>
                <a:spcPts val="500"/>
              </a:spcBef>
              <a:spcAft>
                <a:spcPts val="0"/>
              </a:spcAft>
              <a:buClr>
                <a:schemeClr val="dk1"/>
              </a:buClr>
              <a:buSzPts val="1000"/>
              <a:buNone/>
              <a:defRPr sz="1100"/>
            </a:lvl7pPr>
            <a:lvl8pPr marL="3657600" lvl="7" indent="-228600" algn="l">
              <a:lnSpc>
                <a:spcPct val="90000"/>
              </a:lnSpc>
              <a:spcBef>
                <a:spcPts val="500"/>
              </a:spcBef>
              <a:spcAft>
                <a:spcPts val="0"/>
              </a:spcAft>
              <a:buClr>
                <a:schemeClr val="dk1"/>
              </a:buClr>
              <a:buSzPts val="1000"/>
              <a:buNone/>
              <a:defRPr sz="1100"/>
            </a:lvl8pPr>
            <a:lvl9pPr marL="4114800" lvl="8" indent="-228600" algn="l">
              <a:lnSpc>
                <a:spcPct val="90000"/>
              </a:lnSpc>
              <a:spcBef>
                <a:spcPts val="500"/>
              </a:spcBef>
              <a:spcAft>
                <a:spcPts val="0"/>
              </a:spcAft>
              <a:buClr>
                <a:schemeClr val="dk1"/>
              </a:buClr>
              <a:buSzPts val="1000"/>
              <a:buNone/>
              <a:defRPr sz="1100"/>
            </a:lvl9pPr>
          </a:lstStyle>
          <a:p>
            <a:endParaRPr/>
          </a:p>
        </p:txBody>
      </p:sp>
      <p:sp>
        <p:nvSpPr>
          <p:cNvPr id="71" name="Google Shape;71;p44"/>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44"/>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4"/>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45"/>
          <p:cNvSpPr txBox="1">
            <a:spLocks noGrp="1"/>
          </p:cNvSpPr>
          <p:nvPr>
            <p:ph type="title"/>
          </p:nvPr>
        </p:nvSpPr>
        <p:spPr>
          <a:xfrm>
            <a:off x="839788" y="457200"/>
            <a:ext cx="3932237" cy="1600200"/>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5"/>
          <p:cNvSpPr>
            <a:spLocks noGrp="1"/>
          </p:cNvSpPr>
          <p:nvPr>
            <p:ph type="pic" idx="2"/>
          </p:nvPr>
        </p:nvSpPr>
        <p:spPr>
          <a:xfrm>
            <a:off x="5183188" y="987437"/>
            <a:ext cx="6172200" cy="4873625"/>
          </a:xfrm>
          <a:prstGeom prst="rect">
            <a:avLst/>
          </a:prstGeom>
          <a:noFill/>
          <a:ln>
            <a:noFill/>
          </a:ln>
        </p:spPr>
      </p:sp>
      <p:sp>
        <p:nvSpPr>
          <p:cNvPr id="77" name="Google Shape;77;p45"/>
          <p:cNvSpPr txBox="1">
            <a:spLocks noGrp="1"/>
          </p:cNvSpPr>
          <p:nvPr>
            <p:ph type="body" idx="1"/>
          </p:nvPr>
        </p:nvSpPr>
        <p:spPr>
          <a:xfrm>
            <a:off x="839788" y="2057403"/>
            <a:ext cx="3932237" cy="3811588"/>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5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100"/>
            </a:lvl4pPr>
            <a:lvl5pPr marL="2286000" lvl="4" indent="-228600" algn="l">
              <a:lnSpc>
                <a:spcPct val="90000"/>
              </a:lnSpc>
              <a:spcBef>
                <a:spcPts val="500"/>
              </a:spcBef>
              <a:spcAft>
                <a:spcPts val="0"/>
              </a:spcAft>
              <a:buClr>
                <a:schemeClr val="dk1"/>
              </a:buClr>
              <a:buSzPts val="1000"/>
              <a:buNone/>
              <a:defRPr sz="1100"/>
            </a:lvl5pPr>
            <a:lvl6pPr marL="2743200" lvl="5" indent="-228600" algn="l">
              <a:lnSpc>
                <a:spcPct val="90000"/>
              </a:lnSpc>
              <a:spcBef>
                <a:spcPts val="500"/>
              </a:spcBef>
              <a:spcAft>
                <a:spcPts val="0"/>
              </a:spcAft>
              <a:buClr>
                <a:schemeClr val="dk1"/>
              </a:buClr>
              <a:buSzPts val="1000"/>
              <a:buNone/>
              <a:defRPr sz="1100"/>
            </a:lvl6pPr>
            <a:lvl7pPr marL="3200400" lvl="6" indent="-228600" algn="l">
              <a:lnSpc>
                <a:spcPct val="90000"/>
              </a:lnSpc>
              <a:spcBef>
                <a:spcPts val="500"/>
              </a:spcBef>
              <a:spcAft>
                <a:spcPts val="0"/>
              </a:spcAft>
              <a:buClr>
                <a:schemeClr val="dk1"/>
              </a:buClr>
              <a:buSzPts val="1000"/>
              <a:buNone/>
              <a:defRPr sz="1100"/>
            </a:lvl7pPr>
            <a:lvl8pPr marL="3657600" lvl="7" indent="-228600" algn="l">
              <a:lnSpc>
                <a:spcPct val="90000"/>
              </a:lnSpc>
              <a:spcBef>
                <a:spcPts val="500"/>
              </a:spcBef>
              <a:spcAft>
                <a:spcPts val="0"/>
              </a:spcAft>
              <a:buClr>
                <a:schemeClr val="dk1"/>
              </a:buClr>
              <a:buSzPts val="1000"/>
              <a:buNone/>
              <a:defRPr sz="1100"/>
            </a:lvl8pPr>
            <a:lvl9pPr marL="4114800" lvl="8" indent="-228600" algn="l">
              <a:lnSpc>
                <a:spcPct val="90000"/>
              </a:lnSpc>
              <a:spcBef>
                <a:spcPts val="500"/>
              </a:spcBef>
              <a:spcAft>
                <a:spcPts val="0"/>
              </a:spcAft>
              <a:buClr>
                <a:schemeClr val="dk1"/>
              </a:buClr>
              <a:buSzPts val="1000"/>
              <a:buNone/>
              <a:defRPr sz="1100"/>
            </a:lvl9pPr>
          </a:lstStyle>
          <a:p>
            <a:endParaRPr/>
          </a:p>
        </p:txBody>
      </p:sp>
      <p:sp>
        <p:nvSpPr>
          <p:cNvPr id="78" name="Google Shape;78;p45"/>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5"/>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5"/>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46"/>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6"/>
          <p:cNvSpPr txBox="1">
            <a:spLocks noGrp="1"/>
          </p:cNvSpPr>
          <p:nvPr>
            <p:ph type="body" idx="1"/>
          </p:nvPr>
        </p:nvSpPr>
        <p:spPr>
          <a:xfrm rot="5400000">
            <a:off x="3920333" y="-1256507"/>
            <a:ext cx="4351339" cy="10515600"/>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6"/>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6"/>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46"/>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47"/>
          <p:cNvSpPr txBox="1">
            <a:spLocks noGrp="1"/>
          </p:cNvSpPr>
          <p:nvPr>
            <p:ph type="title"/>
          </p:nvPr>
        </p:nvSpPr>
        <p:spPr>
          <a:xfrm rot="5400000">
            <a:off x="7133442" y="1956595"/>
            <a:ext cx="5811839" cy="2628900"/>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47"/>
          <p:cNvSpPr txBox="1">
            <a:spLocks noGrp="1"/>
          </p:cNvSpPr>
          <p:nvPr>
            <p:ph type="body" idx="1"/>
          </p:nvPr>
        </p:nvSpPr>
        <p:spPr>
          <a:xfrm rot="5400000">
            <a:off x="1799442" y="-596106"/>
            <a:ext cx="5811839" cy="7734300"/>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47"/>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47"/>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7"/>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5"/>
          <p:cNvSpPr txBox="1">
            <a:spLocks noGrp="1"/>
          </p:cNvSpPr>
          <p:nvPr>
            <p:ph type="body" idx="1"/>
          </p:nvPr>
        </p:nvSpPr>
        <p:spPr>
          <a:xfrm>
            <a:off x="838200" y="1825625"/>
            <a:ext cx="10515600" cy="4351339"/>
          </a:xfrm>
          <a:prstGeom prst="rect">
            <a:avLst/>
          </a:prstGeom>
          <a:noFill/>
          <a:ln>
            <a:noFill/>
          </a:ln>
        </p:spPr>
        <p:txBody>
          <a:bodyPr spcFirstLastPara="1" wrap="square" lIns="91400" tIns="45675" rIns="91400" bIns="45675"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5"/>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13" name="Google Shape;13;p35"/>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14" name="Google Shape;14;p35"/>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5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2" r:id="rId1"/>
    <p:sldLayoutId id="2147483655" r:id="rId2"/>
    <p:sldLayoutId id="2147483657" r:id="rId3"/>
    <p:sldLayoutId id="2147483658" r:id="rId4"/>
    <p:sldLayoutId id="2147483659" r:id="rId5"/>
    <p:sldLayoutId id="2147483660" r:id="rId6"/>
    <p:sldLayoutId id="2147483661"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eb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8;p2"/>
          <p:cNvSpPr txBox="1"/>
          <p:nvPr/>
        </p:nvSpPr>
        <p:spPr>
          <a:xfrm>
            <a:off x="242944" y="860611"/>
            <a:ext cx="3537600" cy="492400"/>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None/>
            </a:pPr>
            <a:endParaRPr sz="2400" b="0" i="0" u="none" strike="noStrike" cap="none" dirty="0">
              <a:solidFill>
                <a:srgbClr val="000000"/>
              </a:solidFill>
              <a:latin typeface="Times New Roman"/>
              <a:ea typeface="Times New Roman"/>
              <a:cs typeface="Times New Roman"/>
              <a:sym typeface="Times New Roman"/>
            </a:endParaRPr>
          </a:p>
        </p:txBody>
      </p:sp>
      <p:pic>
        <p:nvPicPr>
          <p:cNvPr id="5" name="Google Shape;99;p2"/>
          <p:cNvPicPr preferRelativeResize="0"/>
          <p:nvPr/>
        </p:nvPicPr>
        <p:blipFill rotWithShape="1">
          <a:blip r:embed="rId2">
            <a:alphaModFix/>
          </a:blip>
          <a:srcRect/>
          <a:stretch/>
        </p:blipFill>
        <p:spPr>
          <a:xfrm>
            <a:off x="14086508" y="11637873"/>
            <a:ext cx="158226" cy="163709"/>
          </a:xfrm>
          <a:prstGeom prst="rect">
            <a:avLst/>
          </a:prstGeom>
          <a:noFill/>
          <a:ln>
            <a:noFill/>
          </a:ln>
        </p:spPr>
      </p:pic>
      <p:sp>
        <p:nvSpPr>
          <p:cNvPr id="8" name="AutoShape 4" descr="DALL·E 2024-11-21 08.42.52 - A futuristic and visually appealing train designed for technology projects, with a sleek and modern design, surrounded by a professional and clean bac.webp">
            <a:extLst>
              <a:ext uri="{FF2B5EF4-FFF2-40B4-BE49-F238E27FC236}">
                <a16:creationId xmlns:a16="http://schemas.microsoft.com/office/drawing/2014/main" id="{9A5763A6-5270-B507-E200-86C83BFA5A70}"/>
              </a:ext>
            </a:extLst>
          </p:cNvPr>
          <p:cNvSpPr>
            <a:spLocks noChangeAspect="1" noChangeArrowheads="1"/>
          </p:cNvSpPr>
          <p:nvPr/>
        </p:nvSpPr>
        <p:spPr bwMode="auto">
          <a:xfrm>
            <a:off x="3300413" y="633413"/>
            <a:ext cx="5957887" cy="59578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3AA7DA7F-CC31-C0CC-2E9A-9E6BE220320D}"/>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350315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248F65-BC28-655E-3F9F-489945C586A4}"/>
              </a:ext>
            </a:extLst>
          </p:cNvPr>
          <p:cNvSpPr txBox="1"/>
          <p:nvPr/>
        </p:nvSpPr>
        <p:spPr>
          <a:xfrm>
            <a:off x="0" y="1206967"/>
            <a:ext cx="12191999" cy="4216539"/>
          </a:xfrm>
          <a:prstGeom prst="rect">
            <a:avLst/>
          </a:prstGeom>
          <a:noFill/>
        </p:spPr>
        <p:txBody>
          <a:bodyPr wrap="square">
            <a:spAutoFit/>
          </a:bodyPr>
          <a:lstStyle/>
          <a:p>
            <a:pPr marL="571500" indent="-571500" algn="ctr" rtl="0">
              <a:buFont typeface="Wingdings" panose="05000000000000000000" pitchFamily="2" charset="2"/>
              <a:buChar char="q"/>
            </a:pPr>
            <a:r>
              <a:rPr lang="en-US" sz="4400" b="1" i="0" u="none" strike="noStrike" dirty="0">
                <a:solidFill>
                  <a:schemeClr val="tx1"/>
                </a:solidFill>
                <a:effectLst/>
                <a:latin typeface="Arial" panose="020B0604020202020204" pitchFamily="34" charset="0"/>
              </a:rPr>
              <a:t>CONTENTS</a:t>
            </a:r>
          </a:p>
          <a:p>
            <a:pPr marL="880110" indent="-457200" rtl="0" fontAlgn="base">
              <a:buFont typeface="Arial" panose="020B0604020202020204" pitchFamily="34" charset="0"/>
              <a:buChar char="•"/>
            </a:pPr>
            <a:r>
              <a:rPr lang="en-US" sz="2800" dirty="0">
                <a:solidFill>
                  <a:schemeClr val="bg2"/>
                </a:solidFill>
                <a:latin typeface="Arial" panose="020B0604020202020204" pitchFamily="34" charset="0"/>
              </a:rPr>
              <a:t> BUSINESS OBJECTIVE</a:t>
            </a:r>
            <a:endParaRPr lang="en-US" sz="2800" b="0" i="0" u="none" strike="noStrike" dirty="0">
              <a:solidFill>
                <a:schemeClr val="bg2"/>
              </a:solidFill>
              <a:effectLst/>
              <a:latin typeface="Arial" panose="020B0604020202020204" pitchFamily="34" charset="0"/>
            </a:endParaRP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BUSINESS CONSTRAINTS</a:t>
            </a:r>
          </a:p>
          <a:p>
            <a:pPr marL="880110" indent="-457200" rtl="0" fontAlgn="base">
              <a:buFont typeface="Arial" panose="020B0604020202020204" pitchFamily="34" charset="0"/>
              <a:buChar char="•"/>
            </a:pPr>
            <a:r>
              <a:rPr lang="en-US" sz="2800" dirty="0">
                <a:solidFill>
                  <a:schemeClr val="bg2"/>
                </a:solidFill>
                <a:latin typeface="Arial" panose="020B0604020202020204" pitchFamily="34" charset="0"/>
              </a:rPr>
              <a:t> </a:t>
            </a:r>
            <a:r>
              <a:rPr lang="en-US" sz="2800" b="0" i="0" u="none" strike="noStrike" dirty="0">
                <a:solidFill>
                  <a:schemeClr val="bg2"/>
                </a:solidFill>
                <a:effectLst/>
                <a:latin typeface="Arial" panose="020B0604020202020204" pitchFamily="34" charset="0"/>
              </a:rPr>
              <a:t>PROJECT ARCHITECTURE</a:t>
            </a: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EXPLORATORY DATA ANALYSIS</a:t>
            </a: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DATA PREPROCESSING</a:t>
            </a: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FEATURE ENGINEERING</a:t>
            </a: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PIPELINE</a:t>
            </a:r>
          </a:p>
          <a:p>
            <a:pPr marL="880110" indent="-457200" rtl="0" fontAlgn="base">
              <a:buFont typeface="Arial" panose="020B0604020202020204" pitchFamily="34" charset="0"/>
              <a:buChar char="•"/>
            </a:pPr>
            <a:r>
              <a:rPr lang="en-US" sz="2800" dirty="0">
                <a:solidFill>
                  <a:schemeClr val="bg2"/>
                </a:solidFill>
                <a:latin typeface="Arial" panose="020B0604020202020204" pitchFamily="34" charset="0"/>
              </a:rPr>
              <a:t> </a:t>
            </a:r>
            <a:r>
              <a:rPr lang="en-US" sz="2800" b="0" i="0" u="none" strike="noStrike" dirty="0">
                <a:solidFill>
                  <a:schemeClr val="bg2"/>
                </a:solidFill>
                <a:effectLst/>
                <a:latin typeface="Arial" panose="020B0604020202020204" pitchFamily="34" charset="0"/>
              </a:rPr>
              <a:t>PROJECT CHALLENGES</a:t>
            </a:r>
          </a:p>
        </p:txBody>
      </p:sp>
      <p:pic>
        <p:nvPicPr>
          <p:cNvPr id="5" name="Picture 2" descr="360DigiTMG Reviews - 52 Reviews of 360digitmg.com | Sitejabber">
            <a:extLst>
              <a:ext uri="{FF2B5EF4-FFF2-40B4-BE49-F238E27FC236}">
                <a16:creationId xmlns:a16="http://schemas.microsoft.com/office/drawing/2014/main" id="{4027563C-5BB7-9341-678E-27307EDD17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9868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7F297-8DBD-B7F7-F024-43DD7BB94E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AE873BA-5138-2B28-A20F-71270046F86D}"/>
              </a:ext>
            </a:extLst>
          </p:cNvPr>
          <p:cNvSpPr txBox="1"/>
          <p:nvPr/>
        </p:nvSpPr>
        <p:spPr>
          <a:xfrm>
            <a:off x="571499" y="2271713"/>
            <a:ext cx="9972675" cy="3108543"/>
          </a:xfrm>
          <a:prstGeom prst="rect">
            <a:avLst/>
          </a:prstGeom>
          <a:noFill/>
        </p:spPr>
        <p:txBody>
          <a:bodyPr wrap="square">
            <a:spAutoFit/>
          </a:bodyPr>
          <a:lstStyle/>
          <a:p>
            <a:r>
              <a:rPr lang="en-US" sz="2800" b="0" i="0" u="none" strike="noStrike" dirty="0">
                <a:solidFill>
                  <a:schemeClr val="bg2"/>
                </a:solidFill>
                <a:effectLst/>
                <a:latin typeface="Arial" panose="020B0604020202020204" pitchFamily="34" charset="0"/>
              </a:rPr>
              <a:t>IN THE COMPETITIVE TENDER LANDSCAPE, SECURING CONTRACTS DEPENDS ON OFFERING THE RIGHT PRICE. HOWEVER, WITHOUT INSIGHT INTO COMPETITORS  STRATEGIES, OUR CLIENT FACES THE CHALLENGE OF EITHER LOSING TENDERS DUE TO HIGH PRICING OR RISKING PROFIT MARGINS BY UNDERPRICING.</a:t>
            </a:r>
            <a:r>
              <a:rPr lang="en-IN" sz="2800" b="0" dirty="0">
                <a:solidFill>
                  <a:schemeClr val="bg2"/>
                </a:solidFill>
                <a:effectLst/>
              </a:rPr>
              <a:t> </a:t>
            </a:r>
            <a:endParaRPr lang="en-IN" sz="2800" dirty="0">
              <a:solidFill>
                <a:schemeClr val="bg2"/>
              </a:solidFill>
            </a:endParaRPr>
          </a:p>
        </p:txBody>
      </p:sp>
      <p:sp>
        <p:nvSpPr>
          <p:cNvPr id="5" name="TextBox 4">
            <a:extLst>
              <a:ext uri="{FF2B5EF4-FFF2-40B4-BE49-F238E27FC236}">
                <a16:creationId xmlns:a16="http://schemas.microsoft.com/office/drawing/2014/main" id="{07717DBF-A8D6-2B4F-F79B-3050E08B6078}"/>
              </a:ext>
            </a:extLst>
          </p:cNvPr>
          <p:cNvSpPr txBox="1"/>
          <p:nvPr/>
        </p:nvSpPr>
        <p:spPr>
          <a:xfrm>
            <a:off x="885219" y="785046"/>
            <a:ext cx="9015413" cy="1200329"/>
          </a:xfrm>
          <a:prstGeom prst="rect">
            <a:avLst/>
          </a:prstGeom>
          <a:noFill/>
        </p:spPr>
        <p:txBody>
          <a:bodyPr wrap="square">
            <a:spAutoFit/>
          </a:bodyPr>
          <a:lstStyle/>
          <a:p>
            <a:pPr marL="571500" indent="-571500" algn="ctr" rtl="0">
              <a:buFont typeface="Wingdings" panose="05000000000000000000" pitchFamily="2" charset="2"/>
              <a:buChar char="q"/>
            </a:pPr>
            <a:r>
              <a:rPr lang="en-IN" sz="4400" b="1" i="0" u="none" strike="noStrike" dirty="0">
                <a:solidFill>
                  <a:schemeClr val="bg2"/>
                </a:solidFill>
                <a:effectLst/>
                <a:latin typeface="Arial" panose="020B0604020202020204" pitchFamily="34" charset="0"/>
              </a:rPr>
              <a:t>BUSINESS PROBLEM</a:t>
            </a:r>
            <a:endParaRPr lang="en-IN" sz="4400" b="1" dirty="0">
              <a:solidFill>
                <a:schemeClr val="bg2"/>
              </a:solidFill>
              <a:effectLst/>
            </a:endParaRPr>
          </a:p>
          <a:p>
            <a:br>
              <a:rPr lang="en-IN" dirty="0"/>
            </a:br>
            <a:endParaRPr lang="en-IN" dirty="0"/>
          </a:p>
        </p:txBody>
      </p:sp>
      <p:pic>
        <p:nvPicPr>
          <p:cNvPr id="6" name="Picture 2" descr="360DigiTMG Reviews - 52 Reviews of 360digitmg.com | Sitejabber">
            <a:extLst>
              <a:ext uri="{FF2B5EF4-FFF2-40B4-BE49-F238E27FC236}">
                <a16:creationId xmlns:a16="http://schemas.microsoft.com/office/drawing/2014/main" id="{1E59B51D-656C-F93C-FB46-8823292B3C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2715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D30C98-73F7-664D-86D9-2F9387876DB9}"/>
              </a:ext>
            </a:extLst>
          </p:cNvPr>
          <p:cNvSpPr txBox="1"/>
          <p:nvPr/>
        </p:nvSpPr>
        <p:spPr>
          <a:xfrm>
            <a:off x="985838" y="671512"/>
            <a:ext cx="10001250" cy="5447645"/>
          </a:xfrm>
          <a:prstGeom prst="rect">
            <a:avLst/>
          </a:prstGeom>
          <a:noFill/>
        </p:spPr>
        <p:txBody>
          <a:bodyPr wrap="square">
            <a:spAutoFit/>
          </a:bodyPr>
          <a:lstStyle/>
          <a:p>
            <a:pPr rtl="0"/>
            <a:r>
              <a:rPr lang="en-US" sz="4400" b="1" i="0" u="none" strike="noStrike" dirty="0">
                <a:solidFill>
                  <a:schemeClr val="bg2"/>
                </a:solidFill>
                <a:effectLst/>
                <a:latin typeface="Arial" panose="020B0604020202020204" pitchFamily="34" charset="0"/>
              </a:rPr>
              <a:t>OBJECTIVE:</a:t>
            </a:r>
            <a:endParaRPr lang="en-US" sz="4400" b="1" dirty="0">
              <a:solidFill>
                <a:schemeClr val="bg2"/>
              </a:solidFill>
              <a:effectLst/>
            </a:endParaRPr>
          </a:p>
          <a:p>
            <a:pPr algn="just" rtl="0"/>
            <a:br>
              <a:rPr lang="en-US" b="0" dirty="0">
                <a:solidFill>
                  <a:schemeClr val="bg2"/>
                </a:solidFill>
                <a:effectLst/>
              </a:rPr>
            </a:br>
            <a:r>
              <a:rPr lang="en-US" sz="2800" b="0" i="0" u="none" strike="noStrike" dirty="0">
                <a:solidFill>
                  <a:schemeClr val="bg2"/>
                </a:solidFill>
                <a:effectLst/>
                <a:latin typeface="Arial" panose="020B0604020202020204" pitchFamily="34" charset="0"/>
              </a:rPr>
              <a:t>TO INCREASE THE SUCCESS RATE OF TENDER </a:t>
            </a:r>
          </a:p>
          <a:p>
            <a:pPr algn="just" rtl="0"/>
            <a:r>
              <a:rPr lang="en-US" sz="2800" b="0" i="0" u="none" strike="noStrike" dirty="0">
                <a:solidFill>
                  <a:schemeClr val="bg2"/>
                </a:solidFill>
                <a:effectLst/>
                <a:latin typeface="Arial" panose="020B0604020202020204" pitchFamily="34" charset="0"/>
              </a:rPr>
              <a:t>CONTRACTS</a:t>
            </a:r>
            <a:r>
              <a:rPr lang="en-US" sz="1400" b="0" i="0" u="none" strike="noStrike" dirty="0">
                <a:solidFill>
                  <a:schemeClr val="bg2"/>
                </a:solidFill>
                <a:effectLst/>
                <a:latin typeface="Arial" panose="020B0604020202020204" pitchFamily="34" charset="0"/>
              </a:rPr>
              <a:t>.</a:t>
            </a:r>
            <a:endParaRPr lang="en-US" b="0" dirty="0">
              <a:solidFill>
                <a:schemeClr val="bg2"/>
              </a:solidFill>
              <a:effectLst/>
            </a:endParaRPr>
          </a:p>
          <a:p>
            <a:pPr rtl="0"/>
            <a:br>
              <a:rPr lang="en-US" b="0" dirty="0">
                <a:solidFill>
                  <a:schemeClr val="bg2"/>
                </a:solidFill>
                <a:effectLst/>
              </a:rPr>
            </a:br>
            <a:r>
              <a:rPr lang="en-US" sz="3200" b="0" i="0" u="none" strike="noStrike" dirty="0">
                <a:solidFill>
                  <a:schemeClr val="bg2"/>
                </a:solidFill>
                <a:effectLst/>
                <a:latin typeface="Arial" panose="020B0604020202020204" pitchFamily="34" charset="0"/>
              </a:rPr>
              <a:t> </a:t>
            </a:r>
          </a:p>
          <a:p>
            <a:pPr rtl="0"/>
            <a:endParaRPr lang="en-US" sz="3200" dirty="0">
              <a:solidFill>
                <a:schemeClr val="bg2"/>
              </a:solidFill>
              <a:latin typeface="Arial" panose="020B0604020202020204" pitchFamily="34" charset="0"/>
            </a:endParaRPr>
          </a:p>
          <a:p>
            <a:pPr rtl="0"/>
            <a:r>
              <a:rPr lang="en-US" sz="4400" b="1" i="0" u="none" strike="noStrike" dirty="0">
                <a:solidFill>
                  <a:schemeClr val="bg2"/>
                </a:solidFill>
                <a:effectLst/>
                <a:latin typeface="Arial" panose="020B0604020202020204" pitchFamily="34" charset="0"/>
              </a:rPr>
              <a:t>CONSTRAINT:</a:t>
            </a:r>
            <a:endParaRPr lang="en-US" sz="4400" b="1" dirty="0">
              <a:solidFill>
                <a:schemeClr val="bg2"/>
              </a:solidFill>
              <a:effectLst/>
            </a:endParaRPr>
          </a:p>
          <a:p>
            <a:pPr rtl="0"/>
            <a:br>
              <a:rPr lang="en-US" sz="2800" b="0" dirty="0">
                <a:solidFill>
                  <a:schemeClr val="bg2"/>
                </a:solidFill>
                <a:effectLst/>
              </a:rPr>
            </a:br>
            <a:r>
              <a:rPr lang="en-US" sz="2800" b="0" i="0" u="none" strike="noStrike" dirty="0">
                <a:solidFill>
                  <a:schemeClr val="bg2"/>
                </a:solidFill>
                <a:effectLst/>
                <a:latin typeface="Arial" panose="020B0604020202020204" pitchFamily="34" charset="0"/>
              </a:rPr>
              <a:t>TO MINIMIZE POTENTIAL LOSSES IN PROFIT MARGINS BY DEVELOPING A DATA-DRIVEN PRICING STRATEGY</a:t>
            </a:r>
            <a:endParaRPr lang="en-US" sz="2800" b="0" dirty="0">
              <a:solidFill>
                <a:schemeClr val="bg2"/>
              </a:solidFill>
              <a:effectLst/>
            </a:endParaRPr>
          </a:p>
          <a:p>
            <a:br>
              <a:rPr lang="en-US" dirty="0">
                <a:solidFill>
                  <a:schemeClr val="bg2"/>
                </a:solidFill>
              </a:rPr>
            </a:br>
            <a:endParaRPr lang="en-IN" dirty="0">
              <a:solidFill>
                <a:schemeClr val="bg2"/>
              </a:solidFill>
            </a:endParaRPr>
          </a:p>
        </p:txBody>
      </p:sp>
      <p:pic>
        <p:nvPicPr>
          <p:cNvPr id="5" name="Picture 2" descr="360DigiTMG Reviews - 52 Reviews of 360digitmg.com | Sitejabber">
            <a:extLst>
              <a:ext uri="{FF2B5EF4-FFF2-40B4-BE49-F238E27FC236}">
                <a16:creationId xmlns:a16="http://schemas.microsoft.com/office/drawing/2014/main" id="{1E564B10-8011-B59D-25FB-2EB45CEE9D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526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E387A55-E2BE-EB2D-2983-98C022FAB3AF}"/>
              </a:ext>
            </a:extLst>
          </p:cNvPr>
          <p:cNvSpPr txBox="1"/>
          <p:nvPr/>
        </p:nvSpPr>
        <p:spPr>
          <a:xfrm>
            <a:off x="566530" y="0"/>
            <a:ext cx="10038522" cy="701731"/>
          </a:xfrm>
          <a:prstGeom prst="rect">
            <a:avLst/>
          </a:prstGeom>
          <a:noFill/>
        </p:spPr>
        <p:txBody>
          <a:bodyPr wrap="square">
            <a:spAutoFit/>
          </a:bodyPr>
          <a:lstStyle/>
          <a:p>
            <a:pPr marL="457200" lvl="0" indent="-431800" algn="ctr" rtl="0">
              <a:lnSpc>
                <a:spcPct val="90000"/>
              </a:lnSpc>
              <a:spcBef>
                <a:spcPts val="0"/>
              </a:spcBef>
              <a:spcAft>
                <a:spcPts val="0"/>
              </a:spcAft>
              <a:buClr>
                <a:schemeClr val="dk1"/>
              </a:buClr>
              <a:buSzPts val="3200"/>
              <a:buFont typeface="Times New Roman"/>
              <a:buChar char="●"/>
            </a:pPr>
            <a:r>
              <a:rPr lang="en-US" sz="4400" b="1" dirty="0">
                <a:solidFill>
                  <a:schemeClr val="dk1"/>
                </a:solidFill>
                <a:latin typeface="Times New Roman"/>
                <a:ea typeface="Times New Roman"/>
                <a:cs typeface="Times New Roman"/>
                <a:sym typeface="Times New Roman"/>
              </a:rPr>
              <a:t>PROJECT ARCHITECTURE</a:t>
            </a:r>
          </a:p>
        </p:txBody>
      </p:sp>
      <p:pic>
        <p:nvPicPr>
          <p:cNvPr id="8" name="Picture 7">
            <a:extLst>
              <a:ext uri="{FF2B5EF4-FFF2-40B4-BE49-F238E27FC236}">
                <a16:creationId xmlns:a16="http://schemas.microsoft.com/office/drawing/2014/main" id="{23DFA2CF-31E4-D3EA-E35F-E3075D0137DC}"/>
              </a:ext>
            </a:extLst>
          </p:cNvPr>
          <p:cNvPicPr>
            <a:picLocks noChangeAspect="1"/>
          </p:cNvPicPr>
          <p:nvPr/>
        </p:nvPicPr>
        <p:blipFill>
          <a:blip r:embed="rId2"/>
          <a:stretch>
            <a:fillRect/>
          </a:stretch>
        </p:blipFill>
        <p:spPr>
          <a:xfrm>
            <a:off x="0" y="646331"/>
            <a:ext cx="12192000" cy="6211669"/>
          </a:xfrm>
          <a:prstGeom prst="rect">
            <a:avLst/>
          </a:prstGeom>
        </p:spPr>
      </p:pic>
      <p:pic>
        <p:nvPicPr>
          <p:cNvPr id="9" name="Picture 2" descr="360DigiTMG Reviews - 52 Reviews of 360digitmg.com | Sitejabber">
            <a:extLst>
              <a:ext uri="{FF2B5EF4-FFF2-40B4-BE49-F238E27FC236}">
                <a16:creationId xmlns:a16="http://schemas.microsoft.com/office/drawing/2014/main" id="{A464BEBE-A74A-3477-816F-5AAB1DFDD6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1545" y="6072187"/>
            <a:ext cx="2277039" cy="689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1472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BB60-D756-82B6-33F2-72C2D14F3A25}"/>
              </a:ext>
            </a:extLst>
          </p:cNvPr>
          <p:cNvSpPr>
            <a:spLocks noGrp="1"/>
          </p:cNvSpPr>
          <p:nvPr>
            <p:ph type="title"/>
          </p:nvPr>
        </p:nvSpPr>
        <p:spPr>
          <a:xfrm>
            <a:off x="2628900" y="1357313"/>
            <a:ext cx="8724900" cy="3028950"/>
          </a:xfrm>
        </p:spPr>
        <p:txBody>
          <a:bodyPr>
            <a:normAutofit/>
          </a:bodyPr>
          <a:lstStyle/>
          <a:p>
            <a:pPr algn="just"/>
            <a:r>
              <a:rPr lang="en-IN" sz="8000" dirty="0">
                <a:solidFill>
                  <a:schemeClr val="accent1">
                    <a:lumMod val="60000"/>
                    <a:lumOff val="40000"/>
                  </a:schemeClr>
                </a:solidFill>
              </a:rPr>
              <a:t>           </a:t>
            </a:r>
            <a:r>
              <a:rPr lang="en-IN" sz="9600" dirty="0">
                <a:solidFill>
                  <a:schemeClr val="accent1">
                    <a:lumMod val="60000"/>
                    <a:lumOff val="40000"/>
                  </a:schemeClr>
                </a:solidFill>
              </a:rPr>
              <a:t>EDA</a:t>
            </a:r>
          </a:p>
        </p:txBody>
      </p:sp>
    </p:spTree>
    <p:extLst>
      <p:ext uri="{BB962C8B-B14F-4D97-AF65-F5344CB8AC3E}">
        <p14:creationId xmlns:p14="http://schemas.microsoft.com/office/powerpoint/2010/main" val="190259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254F2C-20DE-0CE8-7CEC-65AAF28579DC}"/>
              </a:ext>
            </a:extLst>
          </p:cNvPr>
          <p:cNvSpPr txBox="1"/>
          <p:nvPr/>
        </p:nvSpPr>
        <p:spPr>
          <a:xfrm>
            <a:off x="3046810" y="3275112"/>
            <a:ext cx="6093618" cy="307777"/>
          </a:xfrm>
          <a:prstGeom prst="rect">
            <a:avLst/>
          </a:prstGeom>
          <a:noFill/>
        </p:spPr>
        <p:txBody>
          <a:bodyPr wrap="square">
            <a:spAutoFit/>
          </a:bodyPr>
          <a:lstStyle/>
          <a:p>
            <a:r>
              <a:rPr lang="en-IN" b="0" dirty="0">
                <a:effectLst/>
              </a:rPr>
              <a:t> </a:t>
            </a:r>
            <a:endParaRPr lang="en-IN" dirty="0"/>
          </a:p>
        </p:txBody>
      </p:sp>
      <p:sp>
        <p:nvSpPr>
          <p:cNvPr id="6" name="TextBox 5">
            <a:extLst>
              <a:ext uri="{FF2B5EF4-FFF2-40B4-BE49-F238E27FC236}">
                <a16:creationId xmlns:a16="http://schemas.microsoft.com/office/drawing/2014/main" id="{356601D2-0A3D-B6AB-C52D-6A1EDB82126C}"/>
              </a:ext>
            </a:extLst>
          </p:cNvPr>
          <p:cNvSpPr txBox="1"/>
          <p:nvPr/>
        </p:nvSpPr>
        <p:spPr>
          <a:xfrm>
            <a:off x="3046810" y="3275112"/>
            <a:ext cx="6093618" cy="307777"/>
          </a:xfrm>
          <a:prstGeom prst="rect">
            <a:avLst/>
          </a:prstGeom>
          <a:noFill/>
        </p:spPr>
        <p:txBody>
          <a:bodyPr wrap="square">
            <a:spAutoFit/>
          </a:bodyPr>
          <a:lstStyle/>
          <a:p>
            <a:r>
              <a:rPr lang="en-IN" b="0" dirty="0">
                <a:effectLst/>
              </a:rPr>
              <a:t> </a:t>
            </a:r>
            <a:endParaRPr lang="en-IN" dirty="0"/>
          </a:p>
        </p:txBody>
      </p:sp>
      <p:sp>
        <p:nvSpPr>
          <p:cNvPr id="8" name="TextBox 7">
            <a:extLst>
              <a:ext uri="{FF2B5EF4-FFF2-40B4-BE49-F238E27FC236}">
                <a16:creationId xmlns:a16="http://schemas.microsoft.com/office/drawing/2014/main" id="{8EB25867-7593-1BE1-B659-639B0E164C08}"/>
              </a:ext>
            </a:extLst>
          </p:cNvPr>
          <p:cNvSpPr txBox="1"/>
          <p:nvPr/>
        </p:nvSpPr>
        <p:spPr>
          <a:xfrm>
            <a:off x="-128587" y="4397127"/>
            <a:ext cx="6093618" cy="2369880"/>
          </a:xfrm>
          <a:prstGeom prst="rect">
            <a:avLst/>
          </a:prstGeom>
          <a:noFill/>
        </p:spPr>
        <p:txBody>
          <a:bodyPr wrap="square">
            <a:spAutoFit/>
          </a:bodyPr>
          <a:lstStyle/>
          <a:p>
            <a:pPr marL="354254" rtl="0" fontAlgn="base">
              <a:buFont typeface="Arial" panose="020B0604020202020204" pitchFamily="34" charset="0"/>
              <a:buChar char="•"/>
            </a:pPr>
            <a:r>
              <a:rPr lang="en-US" sz="2800" b="0" i="0" u="none" strike="noStrike" dirty="0">
                <a:solidFill>
                  <a:schemeClr val="tx1"/>
                </a:solidFill>
                <a:effectLst/>
                <a:latin typeface="Arial" panose="020B0604020202020204" pitchFamily="34" charset="0"/>
              </a:rPr>
              <a:t>"</a:t>
            </a:r>
            <a:r>
              <a:rPr lang="en-US" sz="2400" b="0" i="0" u="none" strike="noStrike" dirty="0">
                <a:solidFill>
                  <a:schemeClr val="tx1"/>
                </a:solidFill>
                <a:effectLst/>
                <a:latin typeface="Arial" panose="020B0604020202020204" pitchFamily="34" charset="0"/>
              </a:rPr>
              <a:t>SUPPLY" TENDERS ARE THE MOST FREQUENT</a:t>
            </a:r>
          </a:p>
          <a:p>
            <a:pPr marL="354254" rtl="0" fontAlgn="base"/>
            <a:endParaRPr lang="en-US"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US" sz="2400" b="0" i="0" u="none" strike="noStrike" dirty="0">
                <a:solidFill>
                  <a:schemeClr val="tx1"/>
                </a:solidFill>
                <a:effectLst/>
                <a:latin typeface="Arial" panose="020B0604020202020204" pitchFamily="34" charset="0"/>
              </a:rPr>
              <a:t>THE DATASET HAS DIFFERENT VARIATIONS: "SUPPLY", "SUPPLY", AND "SUPPLY</a:t>
            </a:r>
            <a:r>
              <a:rPr lang="en-US" sz="2400" b="0" i="0" u="none" strike="noStrike" dirty="0">
                <a:solidFill>
                  <a:schemeClr val="accent1">
                    <a:lumMod val="60000"/>
                    <a:lumOff val="40000"/>
                  </a:schemeClr>
                </a:solidFill>
                <a:effectLst/>
                <a:latin typeface="Arial" panose="020B0604020202020204" pitchFamily="34" charset="0"/>
              </a:rPr>
              <a:t>" </a:t>
            </a:r>
          </a:p>
        </p:txBody>
      </p:sp>
      <p:sp>
        <p:nvSpPr>
          <p:cNvPr id="12" name="TextBox 11">
            <a:extLst>
              <a:ext uri="{FF2B5EF4-FFF2-40B4-BE49-F238E27FC236}">
                <a16:creationId xmlns:a16="http://schemas.microsoft.com/office/drawing/2014/main" id="{7A5F0465-F271-0767-40B4-EAC860E29E00}"/>
              </a:ext>
            </a:extLst>
          </p:cNvPr>
          <p:cNvSpPr txBox="1"/>
          <p:nvPr/>
        </p:nvSpPr>
        <p:spPr>
          <a:xfrm>
            <a:off x="6572250" y="4397127"/>
            <a:ext cx="4686299" cy="1261884"/>
          </a:xfrm>
          <a:prstGeom prst="rect">
            <a:avLst/>
          </a:prstGeom>
          <a:noFill/>
        </p:spPr>
        <p:txBody>
          <a:bodyPr wrap="square">
            <a:spAutoFit/>
          </a:bodyPr>
          <a:lstStyle/>
          <a:p>
            <a:pPr marL="342900" indent="-342900" rtl="0">
              <a:buFont typeface="Arial" panose="020B0604020202020204" pitchFamily="34" charset="0"/>
              <a:buChar char="•"/>
            </a:pPr>
            <a:r>
              <a:rPr lang="en-US" sz="2400" b="0" i="0" u="none" strike="noStrike" dirty="0">
                <a:solidFill>
                  <a:schemeClr val="tx1"/>
                </a:solidFill>
                <a:effectLst/>
                <a:latin typeface="Arial" panose="020B0604020202020204" pitchFamily="34" charset="0"/>
              </a:rPr>
              <a:t>COMPANY B DOMINATES  WITH 80+ TENDERS.</a:t>
            </a:r>
            <a:endParaRPr lang="en-US" sz="2400" b="0" dirty="0">
              <a:solidFill>
                <a:schemeClr val="tx1"/>
              </a:solidFill>
              <a:effectLst/>
            </a:endParaRPr>
          </a:p>
          <a:p>
            <a:br>
              <a:rPr lang="en-US" dirty="0"/>
            </a:br>
            <a:endParaRPr lang="en-IN" dirty="0"/>
          </a:p>
        </p:txBody>
      </p:sp>
      <p:pic>
        <p:nvPicPr>
          <p:cNvPr id="16" name="Picture 15">
            <a:extLst>
              <a:ext uri="{FF2B5EF4-FFF2-40B4-BE49-F238E27FC236}">
                <a16:creationId xmlns:a16="http://schemas.microsoft.com/office/drawing/2014/main" id="{A73A3EA1-A840-E6F5-19BD-77B7666394DD}"/>
              </a:ext>
            </a:extLst>
          </p:cNvPr>
          <p:cNvPicPr>
            <a:picLocks noChangeAspect="1"/>
          </p:cNvPicPr>
          <p:nvPr/>
        </p:nvPicPr>
        <p:blipFill>
          <a:blip r:embed="rId2"/>
          <a:stretch>
            <a:fillRect/>
          </a:stretch>
        </p:blipFill>
        <p:spPr>
          <a:xfrm>
            <a:off x="0" y="-1"/>
            <a:ext cx="6070273" cy="4286251"/>
          </a:xfrm>
          <a:prstGeom prst="rect">
            <a:avLst/>
          </a:prstGeom>
        </p:spPr>
      </p:pic>
      <p:pic>
        <p:nvPicPr>
          <p:cNvPr id="18" name="Picture 17">
            <a:extLst>
              <a:ext uri="{FF2B5EF4-FFF2-40B4-BE49-F238E27FC236}">
                <a16:creationId xmlns:a16="http://schemas.microsoft.com/office/drawing/2014/main" id="{0204C417-BADC-9AB1-2248-8D13C36356FE}"/>
              </a:ext>
            </a:extLst>
          </p:cNvPr>
          <p:cNvPicPr>
            <a:picLocks noChangeAspect="1"/>
          </p:cNvPicPr>
          <p:nvPr/>
        </p:nvPicPr>
        <p:blipFill>
          <a:blip r:embed="rId3"/>
          <a:stretch>
            <a:fillRect/>
          </a:stretch>
        </p:blipFill>
        <p:spPr>
          <a:xfrm>
            <a:off x="6300788" y="0"/>
            <a:ext cx="5757862" cy="4286250"/>
          </a:xfrm>
          <a:prstGeom prst="rect">
            <a:avLst/>
          </a:prstGeom>
        </p:spPr>
      </p:pic>
    </p:spTree>
    <p:extLst>
      <p:ext uri="{BB962C8B-B14F-4D97-AF65-F5344CB8AC3E}">
        <p14:creationId xmlns:p14="http://schemas.microsoft.com/office/powerpoint/2010/main" val="2219468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2413F2-32C1-F67C-490F-72C5D6A2CA7E}"/>
              </a:ext>
            </a:extLst>
          </p:cNvPr>
          <p:cNvSpPr txBox="1"/>
          <p:nvPr/>
        </p:nvSpPr>
        <p:spPr>
          <a:xfrm>
            <a:off x="1373981" y="3871794"/>
            <a:ext cx="9444037" cy="3046988"/>
          </a:xfrm>
          <a:prstGeom prst="rect">
            <a:avLst/>
          </a:prstGeom>
          <a:noFill/>
        </p:spPr>
        <p:txBody>
          <a:bodyPr wrap="square">
            <a:spAutoFit/>
          </a:bodyPr>
          <a:lstStyle/>
          <a:p>
            <a:pPr marL="354254" rtl="0" fontAlgn="base">
              <a:buFont typeface="Arial" panose="020B0604020202020204" pitchFamily="34" charset="0"/>
              <a:buChar char="•"/>
            </a:pPr>
            <a:r>
              <a:rPr lang="en-US" sz="2400" b="0" i="0" u="none" strike="noStrike" dirty="0">
                <a:solidFill>
                  <a:schemeClr val="tx1"/>
                </a:solidFill>
                <a:effectLst/>
                <a:latin typeface="Arial" panose="020B0604020202020204" pitchFamily="34" charset="0"/>
              </a:rPr>
              <a:t>TREND: THE PRICE FLUCTUATES SIGNIFICANTLY OVER 12 MONTHS .</a:t>
            </a:r>
          </a:p>
          <a:p>
            <a:pPr marL="354254" rtl="0" fontAlgn="base">
              <a:buFont typeface="Arial" panose="020B0604020202020204" pitchFamily="34" charset="0"/>
              <a:buChar char="•"/>
            </a:pPr>
            <a:endParaRPr lang="en-US"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US" sz="2400" b="0" i="0" u="none" strike="noStrike" dirty="0">
                <a:solidFill>
                  <a:schemeClr val="tx1"/>
                </a:solidFill>
                <a:effectLst/>
                <a:latin typeface="Arial" panose="020B0604020202020204" pitchFamily="34" charset="0"/>
              </a:rPr>
              <a:t>HIGH POINTS: PEAKS IN MONTH 2, 4, 8, AND 10 </a:t>
            </a:r>
          </a:p>
          <a:p>
            <a:pPr marL="354254" rtl="0" fontAlgn="base">
              <a:buFont typeface="Arial" panose="020B0604020202020204" pitchFamily="34" charset="0"/>
              <a:buChar char="•"/>
            </a:pPr>
            <a:endParaRPr lang="en-US"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US" sz="2400" b="0" i="0" u="none" strike="noStrike" dirty="0">
                <a:solidFill>
                  <a:schemeClr val="tx1"/>
                </a:solidFill>
                <a:effectLst/>
                <a:latin typeface="Arial" panose="020B0604020202020204" pitchFamily="34" charset="0"/>
              </a:rPr>
              <a:t>LOW POINTS: DIPS IN MONTH 1, 7, AND 11 </a:t>
            </a:r>
          </a:p>
          <a:p>
            <a:br>
              <a:rPr lang="en-US" sz="2400" b="0" dirty="0">
                <a:effectLst/>
              </a:rPr>
            </a:br>
            <a:endParaRPr lang="en-IN" sz="2400" dirty="0"/>
          </a:p>
        </p:txBody>
      </p:sp>
      <p:pic>
        <p:nvPicPr>
          <p:cNvPr id="10" name="Picture 9">
            <a:extLst>
              <a:ext uri="{FF2B5EF4-FFF2-40B4-BE49-F238E27FC236}">
                <a16:creationId xmlns:a16="http://schemas.microsoft.com/office/drawing/2014/main" id="{850CC756-1232-5C48-DF1E-91355695E31E}"/>
              </a:ext>
            </a:extLst>
          </p:cNvPr>
          <p:cNvPicPr>
            <a:picLocks noChangeAspect="1"/>
          </p:cNvPicPr>
          <p:nvPr/>
        </p:nvPicPr>
        <p:blipFill>
          <a:blip r:embed="rId2"/>
          <a:stretch>
            <a:fillRect/>
          </a:stretch>
        </p:blipFill>
        <p:spPr>
          <a:xfrm>
            <a:off x="214313" y="0"/>
            <a:ext cx="11658599" cy="3714750"/>
          </a:xfrm>
          <a:prstGeom prst="rect">
            <a:avLst/>
          </a:prstGeom>
        </p:spPr>
      </p:pic>
    </p:spTree>
    <p:extLst>
      <p:ext uri="{BB962C8B-B14F-4D97-AF65-F5344CB8AC3E}">
        <p14:creationId xmlns:p14="http://schemas.microsoft.com/office/powerpoint/2010/main" val="256462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77821A-16B8-4394-70BB-14BB8470F9C4}"/>
              </a:ext>
            </a:extLst>
          </p:cNvPr>
          <p:cNvSpPr txBox="1"/>
          <p:nvPr/>
        </p:nvSpPr>
        <p:spPr>
          <a:xfrm>
            <a:off x="738187" y="4570634"/>
            <a:ext cx="10715625" cy="1569660"/>
          </a:xfrm>
          <a:prstGeom prst="rect">
            <a:avLst/>
          </a:prstGeom>
          <a:noFill/>
        </p:spPr>
        <p:txBody>
          <a:bodyPr wrap="square">
            <a:spAutoFit/>
          </a:bodyPr>
          <a:lstStyle/>
          <a:p>
            <a:pPr marL="354254" rtl="0" fontAlgn="base">
              <a:buFont typeface="Arial" panose="020B0604020202020204" pitchFamily="34" charset="0"/>
              <a:buChar char="•"/>
            </a:pPr>
            <a:r>
              <a:rPr lang="en-US" sz="2400" b="0" i="0" u="none" strike="noStrike" dirty="0">
                <a:solidFill>
                  <a:schemeClr val="tx1"/>
                </a:solidFill>
                <a:effectLst/>
                <a:latin typeface="Arial" panose="020B0604020202020204" pitchFamily="34" charset="0"/>
              </a:rPr>
              <a:t>TREND: RIGHT-SKEWED DISTRIBUTION , MORE LOW-PRICED L1S , </a:t>
            </a:r>
          </a:p>
          <a:p>
            <a:pPr marL="354254" rtl="0" fontAlgn="base"/>
            <a:r>
              <a:rPr lang="en-US" sz="2400" b="0" i="0" u="none" strike="noStrike" dirty="0">
                <a:solidFill>
                  <a:schemeClr val="tx1"/>
                </a:solidFill>
                <a:effectLst/>
                <a:latin typeface="Arial" panose="020B0604020202020204" pitchFamily="34" charset="0"/>
              </a:rPr>
              <a:t>FEWER HIGH-PRICED ONES </a:t>
            </a:r>
          </a:p>
          <a:p>
            <a:pPr marL="354254" rtl="0" fontAlgn="base">
              <a:buFont typeface="Arial" panose="020B0604020202020204" pitchFamily="34" charset="0"/>
              <a:buChar char="•"/>
            </a:pPr>
            <a:endParaRPr lang="en-US"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US" sz="2400" b="0" i="0" u="none" strike="noStrike" dirty="0">
                <a:solidFill>
                  <a:schemeClr val="tx1"/>
                </a:solidFill>
                <a:effectLst/>
                <a:latin typeface="Arial" panose="020B0604020202020204" pitchFamily="34" charset="0"/>
              </a:rPr>
              <a:t>HIGH: MOST L1S ARE BETWEEN 1000-2000 INR </a:t>
            </a:r>
            <a:r>
              <a:rPr lang="en-US" sz="1400" b="0" i="0" u="none" strike="noStrike" dirty="0">
                <a:solidFill>
                  <a:srgbClr val="FEA002"/>
                </a:solidFill>
                <a:effectLst/>
                <a:latin typeface="Arial" panose="020B0604020202020204" pitchFamily="34" charset="0"/>
              </a:rPr>
              <a:t>.</a:t>
            </a:r>
          </a:p>
        </p:txBody>
      </p:sp>
      <p:pic>
        <p:nvPicPr>
          <p:cNvPr id="6" name="Picture 5">
            <a:extLst>
              <a:ext uri="{FF2B5EF4-FFF2-40B4-BE49-F238E27FC236}">
                <a16:creationId xmlns:a16="http://schemas.microsoft.com/office/drawing/2014/main" id="{4E49A781-3DEE-6A8A-E2F9-1E161084500C}"/>
              </a:ext>
            </a:extLst>
          </p:cNvPr>
          <p:cNvPicPr>
            <a:picLocks noChangeAspect="1"/>
          </p:cNvPicPr>
          <p:nvPr/>
        </p:nvPicPr>
        <p:blipFill>
          <a:blip r:embed="rId2"/>
          <a:stretch>
            <a:fillRect/>
          </a:stretch>
        </p:blipFill>
        <p:spPr>
          <a:xfrm>
            <a:off x="738187" y="300309"/>
            <a:ext cx="10455007" cy="3974114"/>
          </a:xfrm>
          <a:prstGeom prst="rect">
            <a:avLst/>
          </a:prstGeom>
        </p:spPr>
      </p:pic>
    </p:spTree>
    <p:extLst>
      <p:ext uri="{BB962C8B-B14F-4D97-AF65-F5344CB8AC3E}">
        <p14:creationId xmlns:p14="http://schemas.microsoft.com/office/powerpoint/2010/main" val="2599142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F3B12BB-A34D-D700-B7B2-C01E529E32CA}"/>
              </a:ext>
            </a:extLst>
          </p:cNvPr>
          <p:cNvSpPr txBox="1"/>
          <p:nvPr/>
        </p:nvSpPr>
        <p:spPr>
          <a:xfrm>
            <a:off x="0" y="374906"/>
            <a:ext cx="12192000" cy="5878532"/>
          </a:xfrm>
          <a:prstGeom prst="rect">
            <a:avLst/>
          </a:prstGeom>
          <a:noFill/>
        </p:spPr>
        <p:txBody>
          <a:bodyPr wrap="square">
            <a:spAutoFit/>
          </a:bodyPr>
          <a:lstStyle/>
          <a:p>
            <a:pPr marL="457200" indent="-457200" rtl="0">
              <a:buFont typeface="Wingdings" panose="05000000000000000000" pitchFamily="2" charset="2"/>
              <a:buChar char="q"/>
            </a:pPr>
            <a:r>
              <a:rPr lang="en-IN" sz="2800" b="1" i="0" u="none" strike="noStrike" dirty="0">
                <a:solidFill>
                  <a:schemeClr val="tx1"/>
                </a:solidFill>
                <a:effectLst/>
                <a:latin typeface="Arial" panose="020B0604020202020204" pitchFamily="34" charset="0"/>
              </a:rPr>
              <a:t> STATISTICAL INSIGHTS </a:t>
            </a:r>
            <a:endParaRPr lang="en-IN" sz="2800" b="1" dirty="0">
              <a:solidFill>
                <a:schemeClr val="tx1"/>
              </a:solidFill>
              <a:effectLst/>
            </a:endParaRPr>
          </a:p>
          <a:p>
            <a:pPr rtl="0"/>
            <a:br>
              <a:rPr lang="en-IN" sz="2400" b="0" dirty="0">
                <a:solidFill>
                  <a:schemeClr val="tx1"/>
                </a:solidFill>
                <a:effectLst/>
              </a:rPr>
            </a:br>
            <a:endParaRPr lang="en-IN" sz="2400" b="0" dirty="0">
              <a:solidFill>
                <a:schemeClr val="tx1"/>
              </a:solidFill>
              <a:effectLst/>
            </a:endParaRPr>
          </a:p>
          <a:p>
            <a:pPr rtl="0"/>
            <a:r>
              <a:rPr lang="en-IN" sz="2800" b="1" i="0" u="none" strike="noStrike" dirty="0">
                <a:solidFill>
                  <a:schemeClr val="tx1"/>
                </a:solidFill>
                <a:effectLst/>
                <a:latin typeface="Arial" panose="020B0604020202020204" pitchFamily="34" charset="0"/>
              </a:rPr>
              <a:t>CORRELATIONS :</a:t>
            </a:r>
            <a:endParaRPr lang="en-IN" sz="2800" b="1" dirty="0">
              <a:solidFill>
                <a:schemeClr val="tx1"/>
              </a:solidFill>
              <a:effectLst/>
            </a:endParaRPr>
          </a:p>
          <a:p>
            <a:pPr marL="965975"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BASIC AND L1_PRICE ARE STRONGLY POSITIVELY CORRELATED </a:t>
            </a:r>
            <a:r>
              <a:rPr lang="en-IN" sz="2400" dirty="0">
                <a:solidFill>
                  <a:schemeClr val="tx1"/>
                </a:solidFill>
                <a:latin typeface="Arial" panose="020B0604020202020204" pitchFamily="34" charset="0"/>
              </a:rPr>
              <a:t>              </a:t>
            </a:r>
            <a:r>
              <a:rPr lang="en-IN" sz="2400" b="0" i="0" u="none" strike="noStrike" dirty="0">
                <a:solidFill>
                  <a:schemeClr val="tx1"/>
                </a:solidFill>
                <a:effectLst/>
                <a:latin typeface="Arial" panose="020B0604020202020204" pitchFamily="34" charset="0"/>
              </a:rPr>
              <a:t>(R = 1.00) </a:t>
            </a:r>
          </a:p>
          <a:p>
            <a:pPr marL="965975"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TENDER_NO AND L1_PRICE HAVE A SLIGHTLY NEGATIVE CORRELATION (-0.20) </a:t>
            </a:r>
          </a:p>
          <a:p>
            <a:pPr rtl="0"/>
            <a:br>
              <a:rPr lang="en-IN" sz="2400" b="0" dirty="0">
                <a:solidFill>
                  <a:schemeClr val="tx1"/>
                </a:solidFill>
                <a:effectLst/>
              </a:rPr>
            </a:br>
            <a:br>
              <a:rPr lang="en-IN" sz="2800" b="0" dirty="0">
                <a:solidFill>
                  <a:schemeClr val="tx1"/>
                </a:solidFill>
                <a:effectLst/>
              </a:rPr>
            </a:br>
            <a:r>
              <a:rPr lang="en-IN" sz="2800" b="1" i="0" u="none" strike="noStrike" dirty="0">
                <a:solidFill>
                  <a:schemeClr val="tx1"/>
                </a:solidFill>
                <a:effectLst/>
                <a:latin typeface="Arial" panose="020B0604020202020204" pitchFamily="34" charset="0"/>
              </a:rPr>
              <a:t>SKEWNESS :</a:t>
            </a:r>
            <a:endParaRPr lang="en-IN" sz="2800" b="1" dirty="0">
              <a:solidFill>
                <a:schemeClr val="tx1"/>
              </a:solidFill>
              <a:effectLst/>
            </a:endParaRPr>
          </a:p>
          <a:p>
            <a:pPr marL="965975"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QTY IS HIGHLY RIGHT-SKEWED (SKEW = 10.28) </a:t>
            </a:r>
          </a:p>
          <a:p>
            <a:pPr marL="965975"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COMP_A, COMP_B, AND COMP_C SHOW MODERATE RIGHT-SKEW </a:t>
            </a:r>
          </a:p>
          <a:p>
            <a:br>
              <a:rPr lang="en-IN" sz="2400" b="0" dirty="0">
                <a:solidFill>
                  <a:schemeClr val="tx1"/>
                </a:solidFill>
                <a:effectLst/>
              </a:rPr>
            </a:br>
            <a:endParaRPr lang="en-IN" sz="2400" dirty="0">
              <a:solidFill>
                <a:schemeClr val="tx1"/>
              </a:solidFill>
            </a:endParaRPr>
          </a:p>
        </p:txBody>
      </p:sp>
    </p:spTree>
    <p:extLst>
      <p:ext uri="{BB962C8B-B14F-4D97-AF65-F5344CB8AC3E}">
        <p14:creationId xmlns:p14="http://schemas.microsoft.com/office/powerpoint/2010/main" val="4163078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870180-5F18-0480-DBF6-A14C16CB8AD5}"/>
              </a:ext>
            </a:extLst>
          </p:cNvPr>
          <p:cNvSpPr txBox="1"/>
          <p:nvPr/>
        </p:nvSpPr>
        <p:spPr>
          <a:xfrm>
            <a:off x="1" y="1353758"/>
            <a:ext cx="12191999" cy="3908762"/>
          </a:xfrm>
          <a:prstGeom prst="rect">
            <a:avLst/>
          </a:prstGeom>
          <a:noFill/>
        </p:spPr>
        <p:txBody>
          <a:bodyPr wrap="square">
            <a:spAutoFit/>
          </a:bodyPr>
          <a:lstStyle/>
          <a:p>
            <a:pPr marL="342900" indent="-342900" rtl="0">
              <a:buFont typeface="Wingdings" panose="05000000000000000000" pitchFamily="2" charset="2"/>
              <a:buChar char="q"/>
            </a:pPr>
            <a:r>
              <a:rPr lang="en-IN" sz="2800" b="1" i="0" u="none" strike="noStrike" dirty="0">
                <a:solidFill>
                  <a:schemeClr val="tx1"/>
                </a:solidFill>
                <a:effectLst/>
                <a:latin typeface="Arial" panose="020B0604020202020204" pitchFamily="34" charset="0"/>
              </a:rPr>
              <a:t>KURTOSIS :</a:t>
            </a:r>
            <a:endParaRPr lang="en-IN" sz="2800" b="1" dirty="0">
              <a:solidFill>
                <a:schemeClr val="tx1"/>
              </a:solidFill>
              <a:effectLst/>
            </a:endParaRPr>
          </a:p>
          <a:p>
            <a:pPr marL="965975"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TENDER_NO  PLATYKURTIC WITH LIGHT TAILS (KURTOSIS = -1.28) .</a:t>
            </a:r>
          </a:p>
          <a:p>
            <a:pPr marL="965975"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QTY HAS EXTREMELY HEAVY TAILS (KURTOSIS = 110.90) .</a:t>
            </a:r>
          </a:p>
          <a:p>
            <a:pPr marL="965975" rtl="0" fontAlgn="base">
              <a:buFont typeface="Arial" panose="020B0604020202020204" pitchFamily="34" charset="0"/>
              <a:buChar char="•"/>
            </a:pPr>
            <a:endParaRPr lang="en-IN" sz="2400" dirty="0">
              <a:solidFill>
                <a:schemeClr val="tx1"/>
              </a:solidFill>
              <a:latin typeface="Arial" panose="020B0604020202020204" pitchFamily="34" charset="0"/>
            </a:endParaRPr>
          </a:p>
          <a:p>
            <a:pPr marL="965975" rtl="0" fontAlgn="base">
              <a:buFont typeface="Arial" panose="020B0604020202020204" pitchFamily="34" charset="0"/>
              <a:buChar char="•"/>
            </a:pPr>
            <a:endParaRPr lang="en-IN" sz="2400" b="0" i="0" u="none" strike="noStrike" dirty="0">
              <a:solidFill>
                <a:schemeClr val="tx1"/>
              </a:solidFill>
              <a:effectLst/>
              <a:latin typeface="Arial" panose="020B0604020202020204" pitchFamily="34" charset="0"/>
            </a:endParaRPr>
          </a:p>
          <a:p>
            <a:pPr marL="965975" rtl="0" fontAlgn="base">
              <a:buFont typeface="Arial" panose="020B0604020202020204" pitchFamily="34" charset="0"/>
              <a:buChar char="•"/>
            </a:pPr>
            <a:endParaRPr lang="en-IN" sz="2400" dirty="0">
              <a:solidFill>
                <a:schemeClr val="tx1"/>
              </a:solidFill>
              <a:latin typeface="Arial" panose="020B0604020202020204" pitchFamily="34" charset="0"/>
            </a:endParaRPr>
          </a:p>
          <a:p>
            <a:pPr marL="965975" rtl="0" fontAlgn="base"/>
            <a:endParaRPr lang="en-IN" sz="2400" b="0" i="0" u="none" strike="noStrike" dirty="0">
              <a:solidFill>
                <a:schemeClr val="tx1"/>
              </a:solidFill>
              <a:effectLst/>
              <a:latin typeface="Arial" panose="020B0604020202020204" pitchFamily="34" charset="0"/>
            </a:endParaRPr>
          </a:p>
          <a:p>
            <a:pPr marL="342900" indent="-342900" rtl="0">
              <a:buFont typeface="Wingdings" panose="05000000000000000000" pitchFamily="2" charset="2"/>
              <a:buChar char="q"/>
            </a:pPr>
            <a:r>
              <a:rPr lang="en-IN" sz="2800" b="1" i="0" u="none" strike="noStrike" dirty="0">
                <a:solidFill>
                  <a:schemeClr val="tx1"/>
                </a:solidFill>
                <a:effectLst/>
                <a:latin typeface="Arial" panose="020B0604020202020204" pitchFamily="34" charset="0"/>
              </a:rPr>
              <a:t>OUTLIERS :</a:t>
            </a:r>
            <a:endParaRPr lang="en-IN" sz="2800" b="1" dirty="0">
              <a:solidFill>
                <a:schemeClr val="tx1"/>
              </a:solidFill>
              <a:effectLst/>
            </a:endParaRPr>
          </a:p>
          <a:p>
            <a:pPr marL="965975"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L1 PRICE AND BASIC HAVE HIGH-VALUE OUTLIERS (&gt; 6000 INR) .</a:t>
            </a:r>
          </a:p>
          <a:p>
            <a:pPr marL="965975"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TENDER NUMBERS ARE STABLE WITH NO DETECTED OUTLIERS </a:t>
            </a:r>
            <a:r>
              <a:rPr lang="en-IN" sz="2400" b="0" i="0" u="none" strike="noStrike" dirty="0">
                <a:solidFill>
                  <a:srgbClr val="FEA002"/>
                </a:solidFill>
                <a:effectLst/>
                <a:latin typeface="Arial" panose="020B0604020202020204" pitchFamily="34" charset="0"/>
              </a:rPr>
              <a:t>.</a:t>
            </a:r>
          </a:p>
        </p:txBody>
      </p:sp>
    </p:spTree>
    <p:extLst>
      <p:ext uri="{BB962C8B-B14F-4D97-AF65-F5344CB8AC3E}">
        <p14:creationId xmlns:p14="http://schemas.microsoft.com/office/powerpoint/2010/main" val="591953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699A828-64D4-BE07-11F4-89894681B719}"/>
              </a:ext>
            </a:extLst>
          </p:cNvPr>
          <p:cNvSpPr txBox="1"/>
          <p:nvPr/>
        </p:nvSpPr>
        <p:spPr>
          <a:xfrm>
            <a:off x="256675" y="214313"/>
            <a:ext cx="11582400" cy="6186309"/>
          </a:xfrm>
          <a:prstGeom prst="rect">
            <a:avLst/>
          </a:prstGeom>
          <a:noFill/>
        </p:spPr>
        <p:txBody>
          <a:bodyPr wrap="square">
            <a:spAutoFit/>
          </a:bodyPr>
          <a:lstStyle/>
          <a:p>
            <a:pPr marL="342900" indent="-342900" rtl="0">
              <a:buFont typeface="Wingdings" panose="05000000000000000000" pitchFamily="2" charset="2"/>
              <a:buChar char="q"/>
            </a:pPr>
            <a:endParaRPr lang="en-US" sz="2400" b="0" dirty="0">
              <a:solidFill>
                <a:schemeClr val="tx1"/>
              </a:solidFill>
              <a:effectLst/>
            </a:endParaRPr>
          </a:p>
          <a:p>
            <a:pPr marL="342900" indent="-342900" rtl="0">
              <a:buFont typeface="Wingdings" panose="05000000000000000000" pitchFamily="2" charset="2"/>
              <a:buChar char="q"/>
            </a:pPr>
            <a:endParaRPr lang="en-US" sz="2400" dirty="0">
              <a:solidFill>
                <a:schemeClr val="tx1"/>
              </a:solidFill>
            </a:endParaRPr>
          </a:p>
          <a:p>
            <a:pPr marL="342900" indent="-342900" rtl="0">
              <a:buFont typeface="Wingdings" panose="05000000000000000000" pitchFamily="2" charset="2"/>
              <a:buChar char="q"/>
            </a:pPr>
            <a:r>
              <a:rPr lang="en-US" sz="2800" b="1" i="0" u="none" strike="noStrike" dirty="0">
                <a:solidFill>
                  <a:schemeClr val="tx1"/>
                </a:solidFill>
                <a:effectLst/>
                <a:latin typeface="Arial" panose="020B0604020202020204" pitchFamily="34" charset="0"/>
              </a:rPr>
              <a:t>BUSINESS INSIGHTS </a:t>
            </a:r>
            <a:endParaRPr lang="en-US" sz="2800" b="1" dirty="0">
              <a:solidFill>
                <a:schemeClr val="tx1"/>
              </a:solidFill>
              <a:effectLst/>
            </a:endParaRPr>
          </a:p>
          <a:p>
            <a:pPr marL="354254" rtl="0" fontAlgn="base">
              <a:buFont typeface="Arial" panose="020B0604020202020204" pitchFamily="34" charset="0"/>
              <a:buChar char="•"/>
            </a:pPr>
            <a:r>
              <a:rPr lang="en-US" sz="2400" b="0" i="0" u="none" strike="noStrike" dirty="0">
                <a:solidFill>
                  <a:schemeClr val="tx1"/>
                </a:solidFill>
                <a:effectLst/>
                <a:latin typeface="Arial" panose="020B0604020202020204" pitchFamily="34" charset="0"/>
              </a:rPr>
              <a:t>COMPANY B LEADS IN TENDERS AWARDED , ESPECIALLY IN RECENT YEARS .</a:t>
            </a:r>
          </a:p>
          <a:p>
            <a:pPr marL="354254" rtl="0" fontAlgn="base">
              <a:buFont typeface="Arial" panose="020B0604020202020204" pitchFamily="34" charset="0"/>
              <a:buChar char="•"/>
            </a:pPr>
            <a:r>
              <a:rPr lang="en-US" sz="2400" b="0" i="0" u="none" strike="noStrike" dirty="0">
                <a:solidFill>
                  <a:schemeClr val="tx1"/>
                </a:solidFill>
                <a:effectLst/>
                <a:latin typeface="Arial" panose="020B0604020202020204" pitchFamily="34" charset="0"/>
              </a:rPr>
              <a:t>COMPANY A &amp; C FOLLOW CLOSELY, EXCELLING IN DIFFERENT PERIODS </a:t>
            </a:r>
            <a:br>
              <a:rPr lang="en-US" sz="2400" b="0" dirty="0">
                <a:solidFill>
                  <a:schemeClr val="tx1"/>
                </a:solidFill>
                <a:effectLst/>
              </a:rPr>
            </a:br>
            <a:br>
              <a:rPr lang="en-US" sz="2400" b="0" dirty="0">
                <a:solidFill>
                  <a:schemeClr val="tx1"/>
                </a:solidFill>
                <a:effectLst/>
              </a:rPr>
            </a:br>
            <a:endParaRPr lang="en-US" sz="2400" b="0" dirty="0">
              <a:solidFill>
                <a:schemeClr val="tx1"/>
              </a:solidFill>
              <a:effectLst/>
            </a:endParaRPr>
          </a:p>
          <a:p>
            <a:pPr marL="342900" indent="-342900" rtl="0">
              <a:buFont typeface="Wingdings" panose="05000000000000000000" pitchFamily="2" charset="2"/>
              <a:buChar char="q"/>
            </a:pPr>
            <a:endParaRPr lang="en-US" sz="2400" i="0" u="none" strike="noStrike" dirty="0">
              <a:solidFill>
                <a:schemeClr val="tx1"/>
              </a:solidFill>
              <a:latin typeface="Arial" panose="020B0604020202020204" pitchFamily="34" charset="0"/>
            </a:endParaRPr>
          </a:p>
          <a:p>
            <a:pPr marL="342900" indent="-342900" rtl="0">
              <a:buFont typeface="Wingdings" panose="05000000000000000000" pitchFamily="2" charset="2"/>
              <a:buChar char="q"/>
            </a:pPr>
            <a:endParaRPr lang="en-US" sz="2400" b="1" dirty="0">
              <a:solidFill>
                <a:schemeClr val="tx1"/>
              </a:solidFill>
              <a:effectLst/>
              <a:latin typeface="Arial" panose="020B0604020202020204" pitchFamily="34" charset="0"/>
            </a:endParaRPr>
          </a:p>
          <a:p>
            <a:pPr marL="342900" indent="-342900" rtl="0">
              <a:buFont typeface="Wingdings" panose="05000000000000000000" pitchFamily="2" charset="2"/>
              <a:buChar char="q"/>
            </a:pPr>
            <a:r>
              <a:rPr lang="en-US" sz="2800" b="1" i="0" u="none" strike="noStrike" dirty="0">
                <a:solidFill>
                  <a:schemeClr val="tx1"/>
                </a:solidFill>
                <a:effectLst/>
                <a:latin typeface="Arial" panose="020B0604020202020204" pitchFamily="34" charset="0"/>
              </a:rPr>
              <a:t>TENDER NATURE </a:t>
            </a:r>
            <a:endParaRPr lang="en-US" sz="2800" b="1" dirty="0">
              <a:solidFill>
                <a:schemeClr val="tx1"/>
              </a:solidFill>
              <a:effectLst/>
            </a:endParaRPr>
          </a:p>
          <a:p>
            <a:pPr marL="354254" rtl="0" fontAlgn="base">
              <a:buFont typeface="Arial" panose="020B0604020202020204" pitchFamily="34" charset="0"/>
              <a:buChar char="•"/>
            </a:pPr>
            <a:r>
              <a:rPr lang="en-US" sz="2400" b="0" i="0" u="none" strike="noStrike" dirty="0">
                <a:solidFill>
                  <a:schemeClr val="tx1"/>
                </a:solidFill>
                <a:effectLst/>
                <a:latin typeface="Arial" panose="020B0604020202020204" pitchFamily="34" charset="0"/>
              </a:rPr>
              <a:t>SUPPLY TENDERS DOMINATE, FOLLOWED BY EXECUTION AND     SUPERVISION .</a:t>
            </a:r>
          </a:p>
          <a:p>
            <a:pPr marL="354254" rtl="0" fontAlgn="base">
              <a:buFont typeface="Arial" panose="020B0604020202020204" pitchFamily="34" charset="0"/>
              <a:buChar char="•"/>
            </a:pPr>
            <a:r>
              <a:rPr lang="en-US" sz="2400" b="0" i="0" u="none" strike="noStrike" dirty="0">
                <a:solidFill>
                  <a:schemeClr val="tx1"/>
                </a:solidFill>
                <a:effectLst/>
                <a:latin typeface="Arial" panose="020B0604020202020204" pitchFamily="34" charset="0"/>
              </a:rPr>
              <a:t>CUTTING IS LESS COMMON .</a:t>
            </a:r>
          </a:p>
          <a:p>
            <a:pPr marL="354254" rtl="0" fontAlgn="base">
              <a:buFont typeface="Arial" panose="020B0604020202020204" pitchFamily="34" charset="0"/>
              <a:buChar char="•"/>
            </a:pPr>
            <a:r>
              <a:rPr lang="en-US" sz="2400" b="0" i="0" u="none" strike="noStrike" dirty="0">
                <a:solidFill>
                  <a:schemeClr val="tx1"/>
                </a:solidFill>
                <a:effectLst/>
                <a:latin typeface="Arial" panose="020B0604020202020204" pitchFamily="34" charset="0"/>
              </a:rPr>
              <a:t>NAME ERROR WITH SUPPLY </a:t>
            </a:r>
          </a:p>
          <a:p>
            <a:br>
              <a:rPr lang="en-US" b="0" dirty="0">
                <a:effectLst/>
              </a:rPr>
            </a:br>
            <a:endParaRPr lang="en-IN" dirty="0"/>
          </a:p>
        </p:txBody>
      </p:sp>
    </p:spTree>
    <p:extLst>
      <p:ext uri="{BB962C8B-B14F-4D97-AF65-F5344CB8AC3E}">
        <p14:creationId xmlns:p14="http://schemas.microsoft.com/office/powerpoint/2010/main" val="1806317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B8094D0-2176-B2DF-5F6F-BDAB04967C26}"/>
              </a:ext>
            </a:extLst>
          </p:cNvPr>
          <p:cNvSpPr txBox="1"/>
          <p:nvPr/>
        </p:nvSpPr>
        <p:spPr>
          <a:xfrm>
            <a:off x="0" y="843677"/>
            <a:ext cx="12192000" cy="5170646"/>
          </a:xfrm>
          <a:prstGeom prst="rect">
            <a:avLst/>
          </a:prstGeom>
          <a:noFill/>
        </p:spPr>
        <p:txBody>
          <a:bodyPr wrap="square">
            <a:spAutoFit/>
          </a:bodyPr>
          <a:lstStyle/>
          <a:p>
            <a:pPr rtl="0"/>
            <a:r>
              <a:rPr lang="en-IN" sz="9600" b="0" i="0" u="none" strike="noStrike" dirty="0">
                <a:solidFill>
                  <a:schemeClr val="accent1"/>
                </a:solidFill>
                <a:effectLst/>
                <a:latin typeface="Arial" panose="020B0604020202020204" pitchFamily="34" charset="0"/>
              </a:rPr>
              <a:t>VARIABLE</a:t>
            </a:r>
            <a:r>
              <a:rPr lang="en-IN" sz="9600" b="0" i="0" u="none" strike="noStrike" dirty="0">
                <a:solidFill>
                  <a:schemeClr val="tx1"/>
                </a:solidFill>
                <a:effectLst/>
                <a:latin typeface="Arial" panose="020B0604020202020204" pitchFamily="34" charset="0"/>
              </a:rPr>
              <a:t> </a:t>
            </a:r>
            <a:endParaRPr lang="en-IN" b="0" dirty="0">
              <a:solidFill>
                <a:schemeClr val="tx1"/>
              </a:solidFill>
              <a:effectLst/>
            </a:endParaRPr>
          </a:p>
          <a:p>
            <a:pPr rtl="0"/>
            <a:br>
              <a:rPr lang="en-IN" b="0" dirty="0">
                <a:solidFill>
                  <a:schemeClr val="tx1"/>
                </a:solidFill>
                <a:effectLst/>
              </a:rPr>
            </a:br>
            <a:r>
              <a:rPr lang="en-IN" sz="9600" b="0" i="0" u="none" strike="noStrike" dirty="0">
                <a:solidFill>
                  <a:schemeClr val="tx1"/>
                </a:solidFill>
                <a:effectLst/>
                <a:latin typeface="Arial" panose="020B0604020202020204" pitchFamily="34" charset="0"/>
              </a:rPr>
              <a:t>  </a:t>
            </a:r>
            <a:r>
              <a:rPr lang="en-IN" sz="9600" dirty="0">
                <a:solidFill>
                  <a:schemeClr val="tx1"/>
                </a:solidFill>
                <a:latin typeface="Arial" panose="020B0604020202020204" pitchFamily="34" charset="0"/>
              </a:rPr>
              <a:t>        </a:t>
            </a:r>
            <a:r>
              <a:rPr lang="en-IN" sz="9600" b="0" i="0" u="none" strike="noStrike" dirty="0">
                <a:solidFill>
                  <a:schemeClr val="accent4">
                    <a:lumMod val="60000"/>
                    <a:lumOff val="40000"/>
                  </a:schemeClr>
                </a:solidFill>
                <a:effectLst/>
                <a:latin typeface="Arial" panose="020B0604020202020204" pitchFamily="34" charset="0"/>
              </a:rPr>
              <a:t>DICTICTINARY</a:t>
            </a:r>
            <a:r>
              <a:rPr lang="en-IN" sz="9600" b="0" i="0" u="none" strike="noStrike" dirty="0">
                <a:solidFill>
                  <a:schemeClr val="tx1"/>
                </a:solidFill>
                <a:effectLst/>
                <a:latin typeface="Arial" panose="020B0604020202020204" pitchFamily="34" charset="0"/>
              </a:rPr>
              <a:t> </a:t>
            </a:r>
            <a:endParaRPr lang="en-IN" b="0" dirty="0">
              <a:solidFill>
                <a:schemeClr val="tx1"/>
              </a:solidFill>
              <a:effectLst/>
            </a:endParaRPr>
          </a:p>
          <a:p>
            <a:br>
              <a:rPr lang="en-IN" dirty="0"/>
            </a:br>
            <a:endParaRPr lang="en-IN" dirty="0"/>
          </a:p>
        </p:txBody>
      </p:sp>
    </p:spTree>
    <p:extLst>
      <p:ext uri="{BB962C8B-B14F-4D97-AF65-F5344CB8AC3E}">
        <p14:creationId xmlns:p14="http://schemas.microsoft.com/office/powerpoint/2010/main" val="1171076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E4504F7-3DCD-47FC-DB40-6A128557EA50}"/>
              </a:ext>
            </a:extLst>
          </p:cNvPr>
          <p:cNvGraphicFramePr>
            <a:graphicFrameLocks noGrp="1"/>
          </p:cNvGraphicFramePr>
          <p:nvPr>
            <p:extLst>
              <p:ext uri="{D42A27DB-BD31-4B8C-83A1-F6EECF244321}">
                <p14:modId xmlns:p14="http://schemas.microsoft.com/office/powerpoint/2010/main" val="2157105680"/>
              </p:ext>
            </p:extLst>
          </p:nvPr>
        </p:nvGraphicFramePr>
        <p:xfrm>
          <a:off x="-1" y="-2"/>
          <a:ext cx="12192002" cy="6887484"/>
        </p:xfrm>
        <a:graphic>
          <a:graphicData uri="http://schemas.openxmlformats.org/drawingml/2006/table">
            <a:tbl>
              <a:tblPr/>
              <a:tblGrid>
                <a:gridCol w="6096001">
                  <a:extLst>
                    <a:ext uri="{9D8B030D-6E8A-4147-A177-3AD203B41FA5}">
                      <a16:colId xmlns:a16="http://schemas.microsoft.com/office/drawing/2014/main" val="483948334"/>
                    </a:ext>
                  </a:extLst>
                </a:gridCol>
                <a:gridCol w="6096001">
                  <a:extLst>
                    <a:ext uri="{9D8B030D-6E8A-4147-A177-3AD203B41FA5}">
                      <a16:colId xmlns:a16="http://schemas.microsoft.com/office/drawing/2014/main" val="2624548355"/>
                    </a:ext>
                  </a:extLst>
                </a:gridCol>
              </a:tblGrid>
              <a:tr h="494652">
                <a:tc>
                  <a:txBody>
                    <a:bodyPr/>
                    <a:lstStyle/>
                    <a:p>
                      <a:r>
                        <a:rPr lang="en-IN" sz="2800" b="1" dirty="0">
                          <a:solidFill>
                            <a:schemeClr val="tx1"/>
                          </a:solidFill>
                          <a:effectLst/>
                        </a:rPr>
                        <a:t>VARIABLE</a:t>
                      </a:r>
                      <a:endParaRPr lang="en-IN" sz="2800" dirty="0">
                        <a:solidFill>
                          <a:schemeClr val="tx1"/>
                        </a:solidFill>
                        <a:effectLst/>
                      </a:endParaRPr>
                    </a:p>
                  </a:txBody>
                  <a:tcPr marL="74594" marR="74594" marT="37297" marB="37297" anchor="ctr">
                    <a:lnL>
                      <a:noFill/>
                    </a:lnL>
                    <a:lnR>
                      <a:noFill/>
                    </a:lnR>
                    <a:lnT>
                      <a:noFill/>
                    </a:lnT>
                    <a:lnB>
                      <a:noFill/>
                    </a:lnB>
                    <a:noFill/>
                  </a:tcPr>
                </a:tc>
                <a:tc>
                  <a:txBody>
                    <a:bodyPr/>
                    <a:lstStyle/>
                    <a:p>
                      <a:r>
                        <a:rPr lang="en-IN" sz="2800" b="1" dirty="0">
                          <a:solidFill>
                            <a:schemeClr val="tx1"/>
                          </a:solidFill>
                          <a:effectLst/>
                        </a:rPr>
                        <a:t>DESCRIPTION</a:t>
                      </a:r>
                      <a:endParaRPr lang="en-IN" sz="2800" dirty="0">
                        <a:solidFill>
                          <a:schemeClr val="tx1"/>
                        </a:solidFill>
                        <a:effectLst/>
                      </a:endParaRPr>
                    </a:p>
                  </a:txBody>
                  <a:tcPr marL="74594" marR="74594" marT="37297" marB="37297" anchor="ctr">
                    <a:lnL>
                      <a:noFill/>
                    </a:lnL>
                    <a:lnR>
                      <a:noFill/>
                    </a:lnR>
                    <a:lnT>
                      <a:noFill/>
                    </a:lnT>
                    <a:lnB>
                      <a:noFill/>
                    </a:lnB>
                    <a:noFill/>
                  </a:tcPr>
                </a:tc>
                <a:extLst>
                  <a:ext uri="{0D108BD9-81ED-4DB2-BD59-A6C34878D82A}">
                    <a16:rowId xmlns:a16="http://schemas.microsoft.com/office/drawing/2014/main" val="1133800360"/>
                  </a:ext>
                </a:extLst>
              </a:tr>
              <a:tr h="364756">
                <a:tc>
                  <a:txBody>
                    <a:bodyPr/>
                    <a:lstStyle/>
                    <a:p>
                      <a:r>
                        <a:rPr lang="en-IN" sz="1400" dirty="0">
                          <a:solidFill>
                            <a:srgbClr val="000000"/>
                          </a:solidFill>
                          <a:effectLst/>
                        </a:rPr>
                        <a:t>TENDER NO</a:t>
                      </a:r>
                      <a:endParaRPr lang="en-IN" sz="1400" dirty="0">
                        <a:effectLst/>
                      </a:endParaRPr>
                    </a:p>
                  </a:txBody>
                  <a:tcPr marL="74594" marR="74594" marT="37297" marB="37297" anchor="ctr">
                    <a:lnL>
                      <a:noFill/>
                    </a:lnL>
                    <a:lnR>
                      <a:noFill/>
                    </a:lnR>
                    <a:lnT>
                      <a:noFill/>
                    </a:lnT>
                    <a:lnB>
                      <a:noFill/>
                    </a:lnB>
                    <a:noFill/>
                  </a:tcPr>
                </a:tc>
                <a:tc>
                  <a:txBody>
                    <a:bodyPr/>
                    <a:lstStyle/>
                    <a:p>
                      <a:r>
                        <a:rPr lang="en-US" sz="1400" dirty="0">
                          <a:solidFill>
                            <a:srgbClr val="000000"/>
                          </a:solidFill>
                          <a:effectLst/>
                        </a:rPr>
                        <a:t>UNIQUE IDENTIFIER FOR EACH TENDER.</a:t>
                      </a:r>
                      <a:endParaRPr lang="en-US" sz="1400" dirty="0">
                        <a:effectLst/>
                      </a:endParaRPr>
                    </a:p>
                  </a:txBody>
                  <a:tcPr marL="74594" marR="74594" marT="37297" marB="37297" anchor="ctr">
                    <a:lnL>
                      <a:noFill/>
                    </a:lnL>
                    <a:lnR>
                      <a:noFill/>
                    </a:lnR>
                    <a:lnT>
                      <a:noFill/>
                    </a:lnT>
                    <a:lnB>
                      <a:noFill/>
                    </a:lnB>
                    <a:noFill/>
                  </a:tcPr>
                </a:tc>
                <a:extLst>
                  <a:ext uri="{0D108BD9-81ED-4DB2-BD59-A6C34878D82A}">
                    <a16:rowId xmlns:a16="http://schemas.microsoft.com/office/drawing/2014/main" val="1110934362"/>
                  </a:ext>
                </a:extLst>
              </a:tr>
              <a:tr h="364756">
                <a:tc>
                  <a:txBody>
                    <a:bodyPr/>
                    <a:lstStyle/>
                    <a:p>
                      <a:r>
                        <a:rPr lang="en-IN" sz="1400" dirty="0">
                          <a:solidFill>
                            <a:srgbClr val="000000"/>
                          </a:solidFill>
                          <a:effectLst/>
                        </a:rPr>
                        <a:t>NAME OF RAILWAY</a:t>
                      </a:r>
                      <a:endParaRPr lang="en-IN" sz="1400" dirty="0">
                        <a:effectLst/>
                      </a:endParaRPr>
                    </a:p>
                  </a:txBody>
                  <a:tcPr marL="74594" marR="74594" marT="37297" marB="37297" anchor="ctr">
                    <a:lnL>
                      <a:noFill/>
                    </a:lnL>
                    <a:lnR>
                      <a:noFill/>
                    </a:lnR>
                    <a:lnT>
                      <a:noFill/>
                    </a:lnT>
                    <a:lnB>
                      <a:noFill/>
                    </a:lnB>
                    <a:noFill/>
                  </a:tcPr>
                </a:tc>
                <a:tc>
                  <a:txBody>
                    <a:bodyPr/>
                    <a:lstStyle/>
                    <a:p>
                      <a:r>
                        <a:rPr lang="en-US" sz="1400" dirty="0">
                          <a:solidFill>
                            <a:srgbClr val="000000"/>
                          </a:solidFill>
                          <a:effectLst/>
                        </a:rPr>
                        <a:t>NAME OF THE CITY AND RAILWAY DIVISION.</a:t>
                      </a:r>
                      <a:endParaRPr lang="en-US" sz="1400" dirty="0">
                        <a:effectLst/>
                      </a:endParaRPr>
                    </a:p>
                  </a:txBody>
                  <a:tcPr marL="74594" marR="74594" marT="37297" marB="37297" anchor="ctr">
                    <a:lnL>
                      <a:noFill/>
                    </a:lnL>
                    <a:lnR>
                      <a:noFill/>
                    </a:lnR>
                    <a:lnT>
                      <a:noFill/>
                    </a:lnT>
                    <a:lnB>
                      <a:noFill/>
                    </a:lnB>
                    <a:noFill/>
                  </a:tcPr>
                </a:tc>
                <a:extLst>
                  <a:ext uri="{0D108BD9-81ED-4DB2-BD59-A6C34878D82A}">
                    <a16:rowId xmlns:a16="http://schemas.microsoft.com/office/drawing/2014/main" val="1922771850"/>
                  </a:ext>
                </a:extLst>
              </a:tr>
              <a:tr h="364756">
                <a:tc>
                  <a:txBody>
                    <a:bodyPr/>
                    <a:lstStyle/>
                    <a:p>
                      <a:r>
                        <a:rPr lang="en-IN" sz="1400" dirty="0">
                          <a:solidFill>
                            <a:srgbClr val="000000"/>
                          </a:solidFill>
                          <a:effectLst/>
                        </a:rPr>
                        <a:t>DATE OF OPENING</a:t>
                      </a:r>
                      <a:endParaRPr lang="en-IN" sz="1400" dirty="0">
                        <a:effectLst/>
                      </a:endParaRPr>
                    </a:p>
                  </a:txBody>
                  <a:tcPr marL="74594" marR="74594" marT="37297" marB="37297" anchor="ctr">
                    <a:lnL>
                      <a:noFill/>
                    </a:lnL>
                    <a:lnR>
                      <a:noFill/>
                    </a:lnR>
                    <a:lnT>
                      <a:noFill/>
                    </a:lnT>
                    <a:lnB>
                      <a:noFill/>
                    </a:lnB>
                    <a:noFill/>
                  </a:tcPr>
                </a:tc>
                <a:tc>
                  <a:txBody>
                    <a:bodyPr/>
                    <a:lstStyle/>
                    <a:p>
                      <a:r>
                        <a:rPr lang="en-US" sz="1400" dirty="0">
                          <a:solidFill>
                            <a:srgbClr val="000000"/>
                          </a:solidFill>
                          <a:effectLst/>
                        </a:rPr>
                        <a:t>DATE THE TENDER BIDS WERE OPENED.</a:t>
                      </a:r>
                      <a:endParaRPr lang="en-US" sz="1400" dirty="0">
                        <a:effectLst/>
                      </a:endParaRPr>
                    </a:p>
                  </a:txBody>
                  <a:tcPr marL="74594" marR="74594" marT="37297" marB="37297" anchor="ctr">
                    <a:lnL>
                      <a:noFill/>
                    </a:lnL>
                    <a:lnR>
                      <a:noFill/>
                    </a:lnR>
                    <a:lnT>
                      <a:noFill/>
                    </a:lnT>
                    <a:lnB>
                      <a:noFill/>
                    </a:lnB>
                    <a:noFill/>
                  </a:tcPr>
                </a:tc>
                <a:extLst>
                  <a:ext uri="{0D108BD9-81ED-4DB2-BD59-A6C34878D82A}">
                    <a16:rowId xmlns:a16="http://schemas.microsoft.com/office/drawing/2014/main" val="1009287771"/>
                  </a:ext>
                </a:extLst>
              </a:tr>
              <a:tr h="620083">
                <a:tc>
                  <a:txBody>
                    <a:bodyPr/>
                    <a:lstStyle/>
                    <a:p>
                      <a:r>
                        <a:rPr lang="en-IN" sz="1400" dirty="0">
                          <a:solidFill>
                            <a:srgbClr val="000000"/>
                          </a:solidFill>
                          <a:effectLst/>
                        </a:rPr>
                        <a:t>NATURE</a:t>
                      </a:r>
                      <a:endParaRPr lang="en-IN" sz="1400" dirty="0">
                        <a:effectLst/>
                      </a:endParaRPr>
                    </a:p>
                  </a:txBody>
                  <a:tcPr marL="74594" marR="74594" marT="37297" marB="37297" anchor="ctr">
                    <a:lnL>
                      <a:noFill/>
                    </a:lnL>
                    <a:lnR>
                      <a:noFill/>
                    </a:lnR>
                    <a:lnT>
                      <a:noFill/>
                    </a:lnT>
                    <a:lnB>
                      <a:noFill/>
                    </a:lnB>
                    <a:noFill/>
                  </a:tcPr>
                </a:tc>
                <a:tc>
                  <a:txBody>
                    <a:bodyPr/>
                    <a:lstStyle/>
                    <a:p>
                      <a:r>
                        <a:rPr lang="en-US" sz="1400" dirty="0">
                          <a:solidFill>
                            <a:srgbClr val="000000"/>
                          </a:solidFill>
                          <a:effectLst/>
                        </a:rPr>
                        <a:t>TYPE OF WORK INVOLVED IN THE TENDER (E.G., SUPPLY, EXECUTION, SUPERVISION, CUTTING).</a:t>
                      </a:r>
                      <a:endParaRPr lang="en-US" sz="1400" dirty="0">
                        <a:effectLst/>
                      </a:endParaRPr>
                    </a:p>
                  </a:txBody>
                  <a:tcPr marL="74594" marR="74594" marT="37297" marB="37297" anchor="ctr">
                    <a:lnL>
                      <a:noFill/>
                    </a:lnL>
                    <a:lnR>
                      <a:noFill/>
                    </a:lnR>
                    <a:lnT>
                      <a:noFill/>
                    </a:lnT>
                    <a:lnB>
                      <a:noFill/>
                    </a:lnB>
                    <a:noFill/>
                  </a:tcPr>
                </a:tc>
                <a:extLst>
                  <a:ext uri="{0D108BD9-81ED-4DB2-BD59-A6C34878D82A}">
                    <a16:rowId xmlns:a16="http://schemas.microsoft.com/office/drawing/2014/main" val="3280911957"/>
                  </a:ext>
                </a:extLst>
              </a:tr>
              <a:tr h="364756">
                <a:tc>
                  <a:txBody>
                    <a:bodyPr/>
                    <a:lstStyle/>
                    <a:p>
                      <a:r>
                        <a:rPr lang="en-IN" sz="1400" dirty="0">
                          <a:solidFill>
                            <a:srgbClr val="000000"/>
                          </a:solidFill>
                          <a:effectLst/>
                        </a:rPr>
                        <a:t>AWARDED TO</a:t>
                      </a:r>
                      <a:endParaRPr lang="en-IN" sz="1400" dirty="0">
                        <a:effectLst/>
                      </a:endParaRPr>
                    </a:p>
                  </a:txBody>
                  <a:tcPr marL="74594" marR="74594" marT="37297" marB="37297" anchor="ctr">
                    <a:lnL>
                      <a:noFill/>
                    </a:lnL>
                    <a:lnR>
                      <a:noFill/>
                    </a:lnR>
                    <a:lnT>
                      <a:noFill/>
                    </a:lnT>
                    <a:lnB>
                      <a:noFill/>
                    </a:lnB>
                    <a:noFill/>
                  </a:tcPr>
                </a:tc>
                <a:tc>
                  <a:txBody>
                    <a:bodyPr/>
                    <a:lstStyle/>
                    <a:p>
                      <a:r>
                        <a:rPr lang="en-US" sz="1400" dirty="0">
                          <a:solidFill>
                            <a:srgbClr val="000000"/>
                          </a:solidFill>
                          <a:effectLst/>
                        </a:rPr>
                        <a:t>COMPANY OR CONTRACTOR AWARDED THE TENDER.</a:t>
                      </a:r>
                      <a:endParaRPr lang="en-US" sz="1400" dirty="0">
                        <a:effectLst/>
                      </a:endParaRPr>
                    </a:p>
                  </a:txBody>
                  <a:tcPr marL="74594" marR="74594" marT="37297" marB="37297" anchor="ctr">
                    <a:lnL>
                      <a:noFill/>
                    </a:lnL>
                    <a:lnR>
                      <a:noFill/>
                    </a:lnR>
                    <a:lnT>
                      <a:noFill/>
                    </a:lnT>
                    <a:lnB>
                      <a:noFill/>
                    </a:lnB>
                    <a:noFill/>
                  </a:tcPr>
                </a:tc>
                <a:extLst>
                  <a:ext uri="{0D108BD9-81ED-4DB2-BD59-A6C34878D82A}">
                    <a16:rowId xmlns:a16="http://schemas.microsoft.com/office/drawing/2014/main" val="2679086924"/>
                  </a:ext>
                </a:extLst>
              </a:tr>
              <a:tr h="364756">
                <a:tc>
                  <a:txBody>
                    <a:bodyPr/>
                    <a:lstStyle/>
                    <a:p>
                      <a:r>
                        <a:rPr lang="en-IN" sz="1400" dirty="0">
                          <a:solidFill>
                            <a:srgbClr val="000000"/>
                          </a:solidFill>
                          <a:effectLst/>
                        </a:rPr>
                        <a:t>L1 PRICE</a:t>
                      </a:r>
                      <a:endParaRPr lang="en-IN" sz="1400" dirty="0">
                        <a:effectLst/>
                      </a:endParaRPr>
                    </a:p>
                  </a:txBody>
                  <a:tcPr marL="74594" marR="74594" marT="37297" marB="37297" anchor="ctr">
                    <a:lnL>
                      <a:noFill/>
                    </a:lnL>
                    <a:lnR>
                      <a:noFill/>
                    </a:lnR>
                    <a:lnT>
                      <a:noFill/>
                    </a:lnT>
                    <a:lnB>
                      <a:noFill/>
                    </a:lnB>
                    <a:noFill/>
                  </a:tcPr>
                </a:tc>
                <a:tc>
                  <a:txBody>
                    <a:bodyPr/>
                    <a:lstStyle/>
                    <a:p>
                      <a:r>
                        <a:rPr lang="en-US" sz="1400" dirty="0">
                          <a:solidFill>
                            <a:srgbClr val="000000"/>
                          </a:solidFill>
                          <a:effectLst/>
                        </a:rPr>
                        <a:t>PRICE QUOTED BY THE LOWEST BIDDER (L1).</a:t>
                      </a:r>
                      <a:endParaRPr lang="en-US" sz="1400" dirty="0">
                        <a:effectLst/>
                      </a:endParaRPr>
                    </a:p>
                  </a:txBody>
                  <a:tcPr marL="74594" marR="74594" marT="37297" marB="37297" anchor="ctr">
                    <a:lnL>
                      <a:noFill/>
                    </a:lnL>
                    <a:lnR>
                      <a:noFill/>
                    </a:lnR>
                    <a:lnT>
                      <a:noFill/>
                    </a:lnT>
                    <a:lnB>
                      <a:noFill/>
                    </a:lnB>
                    <a:noFill/>
                  </a:tcPr>
                </a:tc>
                <a:extLst>
                  <a:ext uri="{0D108BD9-81ED-4DB2-BD59-A6C34878D82A}">
                    <a16:rowId xmlns:a16="http://schemas.microsoft.com/office/drawing/2014/main" val="2902494820"/>
                  </a:ext>
                </a:extLst>
              </a:tr>
              <a:tr h="364756">
                <a:tc>
                  <a:txBody>
                    <a:bodyPr/>
                    <a:lstStyle/>
                    <a:p>
                      <a:r>
                        <a:rPr lang="en-IN" sz="1400" dirty="0">
                          <a:solidFill>
                            <a:srgbClr val="000000"/>
                          </a:solidFill>
                          <a:effectLst/>
                        </a:rPr>
                        <a:t>BASIC</a:t>
                      </a:r>
                      <a:endParaRPr lang="en-IN" sz="1400" dirty="0">
                        <a:effectLst/>
                      </a:endParaRPr>
                    </a:p>
                  </a:txBody>
                  <a:tcPr marL="74594" marR="74594" marT="37297" marB="37297" anchor="ctr">
                    <a:lnL>
                      <a:noFill/>
                    </a:lnL>
                    <a:lnR>
                      <a:noFill/>
                    </a:lnR>
                    <a:lnT>
                      <a:noFill/>
                    </a:lnT>
                    <a:lnB>
                      <a:noFill/>
                    </a:lnB>
                    <a:noFill/>
                  </a:tcPr>
                </a:tc>
                <a:tc>
                  <a:txBody>
                    <a:bodyPr/>
                    <a:lstStyle/>
                    <a:p>
                      <a:r>
                        <a:rPr lang="en-US" sz="1400" dirty="0">
                          <a:solidFill>
                            <a:srgbClr val="000000"/>
                          </a:solidFill>
                          <a:effectLst/>
                        </a:rPr>
                        <a:t>BASE PRICE OF MATERIALS OR WORK BEFORE ADJUSTMENTS.</a:t>
                      </a:r>
                      <a:endParaRPr lang="en-US" sz="1400" dirty="0">
                        <a:effectLst/>
                      </a:endParaRPr>
                    </a:p>
                  </a:txBody>
                  <a:tcPr marL="74594" marR="74594" marT="37297" marB="37297" anchor="ctr">
                    <a:lnL>
                      <a:noFill/>
                    </a:lnL>
                    <a:lnR>
                      <a:noFill/>
                    </a:lnR>
                    <a:lnT>
                      <a:noFill/>
                    </a:lnT>
                    <a:lnB>
                      <a:noFill/>
                    </a:lnB>
                    <a:noFill/>
                  </a:tcPr>
                </a:tc>
                <a:extLst>
                  <a:ext uri="{0D108BD9-81ED-4DB2-BD59-A6C34878D82A}">
                    <a16:rowId xmlns:a16="http://schemas.microsoft.com/office/drawing/2014/main" val="3417210215"/>
                  </a:ext>
                </a:extLst>
              </a:tr>
              <a:tr h="494652">
                <a:tc>
                  <a:txBody>
                    <a:bodyPr/>
                    <a:lstStyle/>
                    <a:p>
                      <a:r>
                        <a:rPr lang="en-IN" sz="1400" dirty="0">
                          <a:solidFill>
                            <a:srgbClr val="000000"/>
                          </a:solidFill>
                          <a:effectLst/>
                        </a:rPr>
                        <a:t>52 KG</a:t>
                      </a:r>
                      <a:endParaRPr lang="en-IN" sz="1400" dirty="0">
                        <a:effectLst/>
                      </a:endParaRPr>
                    </a:p>
                  </a:txBody>
                  <a:tcPr marL="74594" marR="74594" marT="37297" marB="37297" anchor="ctr">
                    <a:lnL>
                      <a:noFill/>
                    </a:lnL>
                    <a:lnR>
                      <a:noFill/>
                    </a:lnR>
                    <a:lnT>
                      <a:noFill/>
                    </a:lnT>
                    <a:lnB>
                      <a:noFill/>
                    </a:lnB>
                    <a:noFill/>
                  </a:tcPr>
                </a:tc>
                <a:tc>
                  <a:txBody>
                    <a:bodyPr/>
                    <a:lstStyle/>
                    <a:p>
                      <a:r>
                        <a:rPr lang="en-US" sz="1400" dirty="0">
                          <a:solidFill>
                            <a:srgbClr val="000000"/>
                          </a:solidFill>
                          <a:effectLst/>
                        </a:rPr>
                        <a:t>WEIGHT OF THE 52 KG RAIL PER METER OR PER UNIT IN KILOGRAMS.</a:t>
                      </a:r>
                      <a:endParaRPr lang="en-US" sz="1400" dirty="0">
                        <a:effectLst/>
                      </a:endParaRPr>
                    </a:p>
                  </a:txBody>
                  <a:tcPr marL="74594" marR="74594" marT="37297" marB="37297" anchor="ctr">
                    <a:lnL>
                      <a:noFill/>
                    </a:lnL>
                    <a:lnR>
                      <a:noFill/>
                    </a:lnR>
                    <a:lnT>
                      <a:noFill/>
                    </a:lnT>
                    <a:lnB>
                      <a:noFill/>
                    </a:lnB>
                    <a:noFill/>
                  </a:tcPr>
                </a:tc>
                <a:extLst>
                  <a:ext uri="{0D108BD9-81ED-4DB2-BD59-A6C34878D82A}">
                    <a16:rowId xmlns:a16="http://schemas.microsoft.com/office/drawing/2014/main" val="2023532791"/>
                  </a:ext>
                </a:extLst>
              </a:tr>
              <a:tr h="494652">
                <a:tc>
                  <a:txBody>
                    <a:bodyPr/>
                    <a:lstStyle/>
                    <a:p>
                      <a:r>
                        <a:rPr lang="en-IN" sz="1400" dirty="0">
                          <a:solidFill>
                            <a:srgbClr val="000000"/>
                          </a:solidFill>
                          <a:effectLst/>
                        </a:rPr>
                        <a:t>60 KG</a:t>
                      </a:r>
                      <a:endParaRPr lang="en-IN" sz="1400" dirty="0">
                        <a:effectLst/>
                      </a:endParaRPr>
                    </a:p>
                  </a:txBody>
                  <a:tcPr marL="74594" marR="74594" marT="37297" marB="37297" anchor="ctr">
                    <a:lnL>
                      <a:noFill/>
                    </a:lnL>
                    <a:lnR>
                      <a:noFill/>
                    </a:lnR>
                    <a:lnT>
                      <a:noFill/>
                    </a:lnT>
                    <a:lnB>
                      <a:noFill/>
                    </a:lnB>
                    <a:noFill/>
                  </a:tcPr>
                </a:tc>
                <a:tc>
                  <a:txBody>
                    <a:bodyPr/>
                    <a:lstStyle/>
                    <a:p>
                      <a:r>
                        <a:rPr lang="en-US" sz="1400" dirty="0">
                          <a:solidFill>
                            <a:srgbClr val="000000"/>
                          </a:solidFill>
                          <a:effectLst/>
                        </a:rPr>
                        <a:t>WEIGHT OF THE 60 KG RAIL PER METER OR PER UNIT IN KILOGRAMS.</a:t>
                      </a:r>
                      <a:endParaRPr lang="en-US" sz="1400" dirty="0">
                        <a:effectLst/>
                      </a:endParaRPr>
                    </a:p>
                  </a:txBody>
                  <a:tcPr marL="74594" marR="74594" marT="37297" marB="37297" anchor="ctr">
                    <a:lnL>
                      <a:noFill/>
                    </a:lnL>
                    <a:lnR>
                      <a:noFill/>
                    </a:lnR>
                    <a:lnT>
                      <a:noFill/>
                    </a:lnT>
                    <a:lnB>
                      <a:noFill/>
                    </a:lnB>
                    <a:noFill/>
                  </a:tcPr>
                </a:tc>
                <a:extLst>
                  <a:ext uri="{0D108BD9-81ED-4DB2-BD59-A6C34878D82A}">
                    <a16:rowId xmlns:a16="http://schemas.microsoft.com/office/drawing/2014/main" val="2449498596"/>
                  </a:ext>
                </a:extLst>
              </a:tr>
              <a:tr h="620083">
                <a:tc>
                  <a:txBody>
                    <a:bodyPr/>
                    <a:lstStyle/>
                    <a:p>
                      <a:r>
                        <a:rPr lang="en-IN" sz="1400" dirty="0">
                          <a:solidFill>
                            <a:srgbClr val="000000"/>
                          </a:solidFill>
                          <a:effectLst/>
                        </a:rPr>
                        <a:t>R260</a:t>
                      </a:r>
                      <a:endParaRPr lang="en-IN" sz="1400" dirty="0">
                        <a:effectLst/>
                      </a:endParaRPr>
                    </a:p>
                  </a:txBody>
                  <a:tcPr marL="74594" marR="74594" marT="37297" marB="37297" anchor="ctr">
                    <a:lnL>
                      <a:noFill/>
                    </a:lnL>
                    <a:lnR>
                      <a:noFill/>
                    </a:lnR>
                    <a:lnT>
                      <a:noFill/>
                    </a:lnT>
                    <a:lnB>
                      <a:noFill/>
                    </a:lnB>
                    <a:noFill/>
                  </a:tcPr>
                </a:tc>
                <a:tc>
                  <a:txBody>
                    <a:bodyPr/>
                    <a:lstStyle/>
                    <a:p>
                      <a:r>
                        <a:rPr lang="en-US" sz="1400" dirty="0">
                          <a:solidFill>
                            <a:srgbClr val="000000"/>
                          </a:solidFill>
                          <a:effectLst/>
                        </a:rPr>
                        <a:t>R260 STEEL IS A HIGH-QUALITY STEEL USED FOR RAIL MANUFACTURING, KNOWN FOR ITS STRENGTH AND DURABILITY.</a:t>
                      </a:r>
                      <a:endParaRPr lang="en-US" sz="1400" dirty="0">
                        <a:effectLst/>
                      </a:endParaRPr>
                    </a:p>
                  </a:txBody>
                  <a:tcPr marL="74594" marR="74594" marT="37297" marB="37297" anchor="ctr">
                    <a:lnL>
                      <a:noFill/>
                    </a:lnL>
                    <a:lnR>
                      <a:noFill/>
                    </a:lnR>
                    <a:lnT>
                      <a:noFill/>
                    </a:lnT>
                    <a:lnB>
                      <a:noFill/>
                    </a:lnB>
                    <a:noFill/>
                  </a:tcPr>
                </a:tc>
                <a:extLst>
                  <a:ext uri="{0D108BD9-81ED-4DB2-BD59-A6C34878D82A}">
                    <a16:rowId xmlns:a16="http://schemas.microsoft.com/office/drawing/2014/main" val="493880751"/>
                  </a:ext>
                </a:extLst>
              </a:tr>
              <a:tr h="620083">
                <a:tc>
                  <a:txBody>
                    <a:bodyPr/>
                    <a:lstStyle/>
                    <a:p>
                      <a:r>
                        <a:rPr lang="en-IN" sz="1400" dirty="0">
                          <a:solidFill>
                            <a:srgbClr val="000000"/>
                          </a:solidFill>
                          <a:effectLst/>
                        </a:rPr>
                        <a:t>R260 CMB</a:t>
                      </a:r>
                      <a:endParaRPr lang="en-IN" sz="1400" dirty="0">
                        <a:effectLst/>
                      </a:endParaRPr>
                    </a:p>
                  </a:txBody>
                  <a:tcPr marL="74594" marR="74594" marT="37297" marB="37297" anchor="ctr">
                    <a:lnL>
                      <a:noFill/>
                    </a:lnL>
                    <a:lnR>
                      <a:noFill/>
                    </a:lnR>
                    <a:lnT>
                      <a:noFill/>
                    </a:lnT>
                    <a:lnB>
                      <a:noFill/>
                    </a:lnB>
                    <a:noFill/>
                  </a:tcPr>
                </a:tc>
                <a:tc>
                  <a:txBody>
                    <a:bodyPr/>
                    <a:lstStyle/>
                    <a:p>
                      <a:r>
                        <a:rPr lang="en-US" sz="1400" dirty="0">
                          <a:solidFill>
                            <a:srgbClr val="000000"/>
                          </a:solidFill>
                          <a:effectLst/>
                        </a:rPr>
                        <a:t>SPECIFIC VARIANT OR UPGRADED VERSION OF R260 STEEL, POSSIBLY INDICATING A DIFFERENT TREATMENT OR COATING.</a:t>
                      </a:r>
                      <a:endParaRPr lang="en-US" sz="1400" dirty="0">
                        <a:effectLst/>
                      </a:endParaRPr>
                    </a:p>
                  </a:txBody>
                  <a:tcPr marL="74594" marR="74594" marT="37297" marB="37297" anchor="ctr">
                    <a:lnL>
                      <a:noFill/>
                    </a:lnL>
                    <a:lnR>
                      <a:noFill/>
                    </a:lnR>
                    <a:lnT>
                      <a:noFill/>
                    </a:lnT>
                    <a:lnB>
                      <a:noFill/>
                    </a:lnB>
                    <a:noFill/>
                  </a:tcPr>
                </a:tc>
                <a:extLst>
                  <a:ext uri="{0D108BD9-81ED-4DB2-BD59-A6C34878D82A}">
                    <a16:rowId xmlns:a16="http://schemas.microsoft.com/office/drawing/2014/main" val="435402982"/>
                  </a:ext>
                </a:extLst>
              </a:tr>
              <a:tr h="620083">
                <a:tc>
                  <a:txBody>
                    <a:bodyPr/>
                    <a:lstStyle/>
                    <a:p>
                      <a:r>
                        <a:rPr lang="en-IN" sz="1400" dirty="0">
                          <a:solidFill>
                            <a:srgbClr val="000000"/>
                          </a:solidFill>
                          <a:effectLst/>
                        </a:rPr>
                        <a:t>60/52 CMB</a:t>
                      </a:r>
                      <a:endParaRPr lang="en-IN" sz="1400" dirty="0">
                        <a:effectLst/>
                      </a:endParaRPr>
                    </a:p>
                  </a:txBody>
                  <a:tcPr marL="74594" marR="74594" marT="37297" marB="37297" anchor="ctr">
                    <a:lnL>
                      <a:noFill/>
                    </a:lnL>
                    <a:lnR>
                      <a:noFill/>
                    </a:lnR>
                    <a:lnT>
                      <a:noFill/>
                    </a:lnT>
                    <a:lnB>
                      <a:noFill/>
                    </a:lnB>
                    <a:noFill/>
                  </a:tcPr>
                </a:tc>
                <a:tc>
                  <a:txBody>
                    <a:bodyPr/>
                    <a:lstStyle/>
                    <a:p>
                      <a:r>
                        <a:rPr lang="en-US" sz="1400" dirty="0">
                          <a:solidFill>
                            <a:srgbClr val="000000"/>
                          </a:solidFill>
                          <a:effectLst/>
                        </a:rPr>
                        <a:t>COMBINATION OF 60 KG AND 52 KG RAILS, POSSIBLY WITH A SPECIFIC CMB TREATMENT OR FEATURE.</a:t>
                      </a:r>
                      <a:endParaRPr lang="en-US" sz="1400" dirty="0">
                        <a:effectLst/>
                      </a:endParaRPr>
                    </a:p>
                  </a:txBody>
                  <a:tcPr marL="74594" marR="74594" marT="37297" marB="37297" anchor="ctr">
                    <a:lnL>
                      <a:noFill/>
                    </a:lnL>
                    <a:lnR>
                      <a:noFill/>
                    </a:lnR>
                    <a:lnT>
                      <a:noFill/>
                    </a:lnT>
                    <a:lnB>
                      <a:noFill/>
                    </a:lnB>
                    <a:noFill/>
                  </a:tcPr>
                </a:tc>
                <a:extLst>
                  <a:ext uri="{0D108BD9-81ED-4DB2-BD59-A6C34878D82A}">
                    <a16:rowId xmlns:a16="http://schemas.microsoft.com/office/drawing/2014/main" val="2450713767"/>
                  </a:ext>
                </a:extLst>
              </a:tr>
              <a:tr h="705176">
                <a:tc>
                  <a:txBody>
                    <a:bodyPr/>
                    <a:lstStyle/>
                    <a:p>
                      <a:r>
                        <a:rPr lang="en-IN" sz="1400" dirty="0">
                          <a:solidFill>
                            <a:srgbClr val="000000"/>
                          </a:solidFill>
                          <a:effectLst/>
                        </a:rPr>
                        <a:t>HH 1080</a:t>
                      </a:r>
                      <a:endParaRPr lang="en-IN" sz="1400" dirty="0">
                        <a:effectLst/>
                      </a:endParaRPr>
                    </a:p>
                  </a:txBody>
                  <a:tcPr marL="74594" marR="74594" marT="37297" marB="37297" anchor="ctr">
                    <a:lnL>
                      <a:noFill/>
                    </a:lnL>
                    <a:lnR>
                      <a:noFill/>
                    </a:lnR>
                    <a:lnT>
                      <a:noFill/>
                    </a:lnT>
                    <a:lnB>
                      <a:noFill/>
                    </a:lnB>
                    <a:noFill/>
                  </a:tcPr>
                </a:tc>
                <a:tc>
                  <a:txBody>
                    <a:bodyPr/>
                    <a:lstStyle/>
                    <a:p>
                      <a:r>
                        <a:rPr lang="en-US" sz="1400" dirty="0">
                          <a:solidFill>
                            <a:srgbClr val="000000"/>
                          </a:solidFill>
                          <a:effectLst/>
                        </a:rPr>
                        <a:t>HEAD-HARDENED STEEL OF GRADE 1080, DESIGNED FOR HIGH DURABILITY, ESPECIALLY IN HIGH-SPEED OR HEAVY-DUTY RAIL SYSTEMS.</a:t>
                      </a:r>
                      <a:endParaRPr lang="en-US" sz="1400" dirty="0">
                        <a:effectLst/>
                      </a:endParaRPr>
                    </a:p>
                  </a:txBody>
                  <a:tcPr marL="74594" marR="74594" marT="37297" marB="37297" anchor="ctr">
                    <a:lnL>
                      <a:noFill/>
                    </a:lnL>
                    <a:lnR>
                      <a:noFill/>
                    </a:lnR>
                    <a:lnT>
                      <a:noFill/>
                    </a:lnT>
                    <a:lnB>
                      <a:noFill/>
                    </a:lnB>
                    <a:noFill/>
                  </a:tcPr>
                </a:tc>
                <a:extLst>
                  <a:ext uri="{0D108BD9-81ED-4DB2-BD59-A6C34878D82A}">
                    <a16:rowId xmlns:a16="http://schemas.microsoft.com/office/drawing/2014/main" val="3212304753"/>
                  </a:ext>
                </a:extLst>
              </a:tr>
            </a:tbl>
          </a:graphicData>
        </a:graphic>
      </p:graphicFrame>
      <p:sp>
        <p:nvSpPr>
          <p:cNvPr id="4" name="Rectangle 1">
            <a:extLst>
              <a:ext uri="{FF2B5EF4-FFF2-40B4-BE49-F238E27FC236}">
                <a16:creationId xmlns:a16="http://schemas.microsoft.com/office/drawing/2014/main" id="{7C3BD3DD-E147-1042-87A6-39EEF5BABAF1}"/>
              </a:ext>
            </a:extLst>
          </p:cNvPr>
          <p:cNvSpPr>
            <a:spLocks noChangeArrowheads="1"/>
          </p:cNvSpPr>
          <p:nvPr/>
        </p:nvSpPr>
        <p:spPr bwMode="auto">
          <a:xfrm flipV="1">
            <a:off x="-30356" y="1675634"/>
            <a:ext cx="144579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905759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631F45-6A9F-8D81-151B-4F748BE71885}"/>
              </a:ext>
            </a:extLst>
          </p:cNvPr>
          <p:cNvSpPr txBox="1"/>
          <p:nvPr/>
        </p:nvSpPr>
        <p:spPr>
          <a:xfrm>
            <a:off x="0" y="0"/>
            <a:ext cx="12192000" cy="6555641"/>
          </a:xfrm>
          <a:prstGeom prst="rect">
            <a:avLst/>
          </a:prstGeom>
          <a:noFill/>
        </p:spPr>
        <p:txBody>
          <a:bodyPr wrap="square">
            <a:spAutoFit/>
          </a:bodyPr>
          <a:lstStyle/>
          <a:p>
            <a:pPr marL="457200" indent="-457200" rtl="0">
              <a:buFont typeface="Wingdings" panose="05000000000000000000" pitchFamily="2" charset="2"/>
              <a:buChar char="q"/>
            </a:pPr>
            <a:r>
              <a:rPr lang="en-IN" sz="3200" b="1" i="0" u="none" strike="noStrike" dirty="0">
                <a:solidFill>
                  <a:schemeClr val="tx1"/>
                </a:solidFill>
                <a:effectLst/>
                <a:latin typeface="Arial" panose="020B0604020202020204" pitchFamily="34" charset="0"/>
              </a:rPr>
              <a:t>DATA PREPROCESSING</a:t>
            </a:r>
          </a:p>
          <a:p>
            <a:pPr rtl="0"/>
            <a:endParaRPr lang="en-IN" sz="2800" b="0" i="0" u="none" strike="noStrike" dirty="0">
              <a:solidFill>
                <a:srgbClr val="008EC2"/>
              </a:solidFill>
              <a:effectLst/>
              <a:latin typeface="Arial" panose="020B0604020202020204" pitchFamily="34" charset="0"/>
            </a:endParaRPr>
          </a:p>
          <a:p>
            <a:pPr marL="354254"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FILL MISSING VALUES IN THE FIRST TWO ROWS .</a:t>
            </a:r>
          </a:p>
          <a:p>
            <a:pPr marL="354254" rtl="0" fontAlgn="base">
              <a:buFont typeface="Arial" panose="020B0604020202020204" pitchFamily="34" charset="0"/>
              <a:buChar char="•"/>
            </a:pPr>
            <a:endParaRPr lang="en-IN"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MERGE HEADERS AND MAKE THEM UNIQUE.</a:t>
            </a:r>
          </a:p>
          <a:p>
            <a:pPr marL="354254" rtl="0" fontAlgn="base">
              <a:buFont typeface="Arial" panose="020B0604020202020204" pitchFamily="34" charset="0"/>
              <a:buChar char="•"/>
            </a:pPr>
            <a:endParaRPr lang="en-IN"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DROP UNNECESSARY COLUMNS LIKE "TENDER NO." AND "TIME" .</a:t>
            </a:r>
          </a:p>
          <a:p>
            <a:pPr marL="354254" rtl="0" fontAlgn="base">
              <a:buFont typeface="Arial" panose="020B0604020202020204" pitchFamily="34" charset="0"/>
              <a:buChar char="•"/>
            </a:pPr>
            <a:endParaRPr lang="en-IN"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RENAME COLUMNS FOR CLARITY.</a:t>
            </a:r>
          </a:p>
          <a:p>
            <a:pPr marL="354254" rtl="0" fontAlgn="base">
              <a:buFont typeface="Arial" panose="020B0604020202020204" pitchFamily="34" charset="0"/>
              <a:buChar char="•"/>
            </a:pPr>
            <a:endParaRPr lang="en-IN"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REMOVE EMPTY ROWS AND ROWS WITH MISSING TENDER NUMBERS.</a:t>
            </a:r>
          </a:p>
          <a:p>
            <a:pPr marL="354254" rtl="0" fontAlgn="base">
              <a:buFont typeface="Arial" panose="020B0604020202020204" pitchFamily="34" charset="0"/>
              <a:buChar char="•"/>
            </a:pPr>
            <a:endParaRPr lang="en-IN"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CONVERT COLUMNS TO APPROPRIATE DATA TYPES (E.G., INT, FLOAT, DATETIME) .</a:t>
            </a:r>
          </a:p>
          <a:p>
            <a:pPr marL="354254" rtl="0" fontAlgn="base">
              <a:buFont typeface="Arial" panose="020B0604020202020204" pitchFamily="34" charset="0"/>
              <a:buChar char="•"/>
            </a:pPr>
            <a:endParaRPr lang="en-IN"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FILL MISSING VALUES IN SPECIFIC COLUMNS .</a:t>
            </a:r>
          </a:p>
          <a:p>
            <a:br>
              <a:rPr lang="en-IN" b="0" dirty="0">
                <a:effectLst/>
              </a:rPr>
            </a:br>
            <a:endParaRPr lang="en-IN" dirty="0"/>
          </a:p>
        </p:txBody>
      </p:sp>
    </p:spTree>
    <p:extLst>
      <p:ext uri="{BB962C8B-B14F-4D97-AF65-F5344CB8AC3E}">
        <p14:creationId xmlns:p14="http://schemas.microsoft.com/office/powerpoint/2010/main" val="2577462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A25CAF-A9A7-0820-1FD6-8EF76D9E3E4C}"/>
              </a:ext>
            </a:extLst>
          </p:cNvPr>
          <p:cNvSpPr txBox="1"/>
          <p:nvPr/>
        </p:nvSpPr>
        <p:spPr>
          <a:xfrm>
            <a:off x="885824" y="843677"/>
            <a:ext cx="10444163" cy="3693319"/>
          </a:xfrm>
          <a:prstGeom prst="rect">
            <a:avLst/>
          </a:prstGeom>
          <a:noFill/>
        </p:spPr>
        <p:txBody>
          <a:bodyPr wrap="square">
            <a:spAutoFit/>
          </a:bodyPr>
          <a:lstStyle/>
          <a:p>
            <a:pPr rtl="0"/>
            <a:r>
              <a:rPr lang="en-IN" sz="9600" b="0" i="0" u="none" strike="noStrike" dirty="0">
                <a:solidFill>
                  <a:srgbClr val="0070C0"/>
                </a:solidFill>
                <a:effectLst/>
                <a:latin typeface="Arial" panose="020B0604020202020204" pitchFamily="34" charset="0"/>
              </a:rPr>
              <a:t>FEATURE</a:t>
            </a:r>
            <a:endParaRPr lang="en-IN" b="0" dirty="0">
              <a:solidFill>
                <a:srgbClr val="0070C0"/>
              </a:solidFill>
              <a:effectLst/>
            </a:endParaRPr>
          </a:p>
          <a:p>
            <a:pPr rtl="0"/>
            <a:br>
              <a:rPr lang="en-IN" b="0" dirty="0">
                <a:solidFill>
                  <a:schemeClr val="bg2"/>
                </a:solidFill>
                <a:effectLst/>
              </a:rPr>
            </a:br>
            <a:r>
              <a:rPr lang="en-IN" sz="9600" b="0" i="0" u="none" strike="noStrike" dirty="0">
                <a:solidFill>
                  <a:schemeClr val="accent4">
                    <a:lumMod val="60000"/>
                    <a:lumOff val="40000"/>
                  </a:schemeClr>
                </a:solidFill>
                <a:effectLst/>
                <a:latin typeface="Arial" panose="020B0604020202020204" pitchFamily="34" charset="0"/>
              </a:rPr>
              <a:t>ENGINEERING</a:t>
            </a:r>
            <a:endParaRPr lang="en-IN" b="0" dirty="0">
              <a:solidFill>
                <a:schemeClr val="accent4">
                  <a:lumMod val="60000"/>
                  <a:lumOff val="40000"/>
                </a:schemeClr>
              </a:solidFill>
              <a:effectLst/>
            </a:endParaRPr>
          </a:p>
          <a:p>
            <a:br>
              <a:rPr lang="en-IN" dirty="0"/>
            </a:br>
            <a:endParaRPr lang="en-IN" dirty="0"/>
          </a:p>
        </p:txBody>
      </p:sp>
    </p:spTree>
    <p:extLst>
      <p:ext uri="{BB962C8B-B14F-4D97-AF65-F5344CB8AC3E}">
        <p14:creationId xmlns:p14="http://schemas.microsoft.com/office/powerpoint/2010/main" val="1797831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3579A3C-AC71-EDB8-AA9A-A2083E305209}"/>
              </a:ext>
            </a:extLst>
          </p:cNvPr>
          <p:cNvSpPr txBox="1"/>
          <p:nvPr/>
        </p:nvSpPr>
        <p:spPr>
          <a:xfrm>
            <a:off x="0" y="505122"/>
            <a:ext cx="12192000" cy="5847755"/>
          </a:xfrm>
          <a:prstGeom prst="rect">
            <a:avLst/>
          </a:prstGeom>
          <a:noFill/>
        </p:spPr>
        <p:txBody>
          <a:bodyPr wrap="square">
            <a:spAutoFit/>
          </a:bodyPr>
          <a:lstStyle/>
          <a:p>
            <a:pPr marL="342900" indent="-342900" rtl="0">
              <a:buFont typeface="Wingdings" panose="05000000000000000000" pitchFamily="2" charset="2"/>
              <a:buChar char="q"/>
            </a:pPr>
            <a:r>
              <a:rPr lang="en-IN" sz="4400" b="0" i="0" u="none" strike="noStrike" dirty="0">
                <a:solidFill>
                  <a:schemeClr val="tx1"/>
                </a:solidFill>
                <a:effectLst/>
                <a:latin typeface="Arial" panose="020B0604020202020204" pitchFamily="34" charset="0"/>
              </a:rPr>
              <a:t>FEATURE ENGINEERING : </a:t>
            </a:r>
            <a:endParaRPr lang="en-IN" sz="4400" b="0" dirty="0">
              <a:solidFill>
                <a:schemeClr val="tx1"/>
              </a:solidFill>
              <a:effectLst/>
            </a:endParaRPr>
          </a:p>
          <a:p>
            <a:pPr marL="354254" rtl="0" fontAlgn="base"/>
            <a:r>
              <a:rPr lang="en-IN" sz="2400" b="0" i="0" u="none" strike="noStrike" dirty="0">
                <a:solidFill>
                  <a:schemeClr val="tx1"/>
                </a:solidFill>
                <a:effectLst/>
                <a:latin typeface="Arial" panose="020B0604020202020204" pitchFamily="34" charset="0"/>
              </a:rPr>
              <a:t>CREATE A NEW 'CATEGORY' COLUMN BASED ON THE MAX VALUE ACROSS CERTAIN COLUMNS .</a:t>
            </a:r>
          </a:p>
          <a:p>
            <a:pPr marL="354254" rtl="0" fontAlgn="base"/>
            <a:endParaRPr lang="en-IN"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ADD TOTAL COLUMNS FOR COMPANIES (E.G., COMP_A, COMP_B) .</a:t>
            </a:r>
          </a:p>
          <a:p>
            <a:pPr marL="354254" rtl="0" fontAlgn="base">
              <a:buFont typeface="Arial" panose="020B0604020202020204" pitchFamily="34" charset="0"/>
              <a:buChar char="•"/>
            </a:pPr>
            <a:endParaRPr lang="en-IN"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REMOVE OLD COLUMNS AFTER CREATING TOTALS .</a:t>
            </a:r>
          </a:p>
          <a:p>
            <a:pPr marL="354254" rtl="0" fontAlgn="base">
              <a:buFont typeface="Arial" panose="020B0604020202020204" pitchFamily="34" charset="0"/>
              <a:buChar char="•"/>
            </a:pPr>
            <a:endParaRPr lang="en-IN"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MAP RAILWAY NAMES TO SPECIFIC LOCATIONS AND ZONES .</a:t>
            </a:r>
          </a:p>
          <a:p>
            <a:pPr marL="354254" rtl="0" fontAlgn="base">
              <a:buFont typeface="Arial" panose="020B0604020202020204" pitchFamily="34" charset="0"/>
              <a:buChar char="•"/>
            </a:pPr>
            <a:endParaRPr lang="en-IN"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ADD COLUMNS FOR RAILWAY_LOCATION AND ZONE.</a:t>
            </a:r>
          </a:p>
          <a:p>
            <a:pPr marL="354254" rtl="0" fontAlgn="base">
              <a:buFont typeface="Arial" panose="020B0604020202020204" pitchFamily="34" charset="0"/>
              <a:buChar char="•"/>
            </a:pPr>
            <a:endParaRPr lang="en-IN" sz="2400" b="0" i="0" u="none" strike="noStrike" dirty="0">
              <a:solidFill>
                <a:schemeClr val="tx1"/>
              </a:solidFill>
              <a:effectLst/>
              <a:latin typeface="Arial" panose="020B0604020202020204" pitchFamily="34" charset="0"/>
            </a:endParaRPr>
          </a:p>
          <a:p>
            <a:pPr marL="354254" rtl="0" fontAlgn="base">
              <a:buFont typeface="Arial" panose="020B0604020202020204" pitchFamily="34" charset="0"/>
              <a:buChar char="•"/>
            </a:pPr>
            <a:r>
              <a:rPr lang="en-IN" sz="2400" b="0" i="0" u="none" strike="noStrike" dirty="0">
                <a:solidFill>
                  <a:schemeClr val="tx1"/>
                </a:solidFill>
                <a:effectLst/>
                <a:latin typeface="Arial" panose="020B0604020202020204" pitchFamily="34" charset="0"/>
              </a:rPr>
              <a:t>MAP RAILWAY DIVISIONS (E.G., BHOPAL, NAGPUR) </a:t>
            </a:r>
            <a:r>
              <a:rPr lang="en-IN" sz="2400" b="0" i="0" u="none" strike="noStrike" dirty="0">
                <a:solidFill>
                  <a:srgbClr val="FEA002"/>
                </a:solidFill>
                <a:effectLst/>
                <a:latin typeface="Arial" panose="020B0604020202020204" pitchFamily="34" charset="0"/>
              </a:rPr>
              <a:t>.</a:t>
            </a:r>
          </a:p>
          <a:p>
            <a:br>
              <a:rPr lang="en-IN" b="0" dirty="0">
                <a:effectLst/>
              </a:rPr>
            </a:br>
            <a:br>
              <a:rPr lang="en-IN" b="0" dirty="0">
                <a:effectLst/>
              </a:rPr>
            </a:br>
            <a:endParaRPr lang="en-IN" dirty="0"/>
          </a:p>
        </p:txBody>
      </p:sp>
    </p:spTree>
    <p:extLst>
      <p:ext uri="{BB962C8B-B14F-4D97-AF65-F5344CB8AC3E}">
        <p14:creationId xmlns:p14="http://schemas.microsoft.com/office/powerpoint/2010/main" val="2922259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E8EB191-4957-D27D-2A63-07CAB9D308D1}"/>
              </a:ext>
            </a:extLst>
          </p:cNvPr>
          <p:cNvSpPr txBox="1"/>
          <p:nvPr/>
        </p:nvSpPr>
        <p:spPr>
          <a:xfrm>
            <a:off x="3046810" y="2428726"/>
            <a:ext cx="6093618" cy="2000548"/>
          </a:xfrm>
          <a:prstGeom prst="rect">
            <a:avLst/>
          </a:prstGeom>
          <a:noFill/>
        </p:spPr>
        <p:txBody>
          <a:bodyPr wrap="square">
            <a:spAutoFit/>
          </a:bodyPr>
          <a:lstStyle/>
          <a:p>
            <a:pPr rtl="0"/>
            <a:r>
              <a:rPr lang="en-IN" sz="9600" b="1" dirty="0">
                <a:solidFill>
                  <a:srgbClr val="008EC2"/>
                </a:solidFill>
                <a:latin typeface="Arial" panose="020B0604020202020204" pitchFamily="34" charset="0"/>
              </a:rPr>
              <a:t>P</a:t>
            </a:r>
            <a:r>
              <a:rPr lang="en-IN" sz="9600" b="1" i="0" u="none" strike="noStrike" dirty="0">
                <a:solidFill>
                  <a:srgbClr val="008EC2"/>
                </a:solidFill>
                <a:effectLst/>
                <a:latin typeface="Arial" panose="020B0604020202020204" pitchFamily="34" charset="0"/>
              </a:rPr>
              <a:t>IPE</a:t>
            </a:r>
            <a:r>
              <a:rPr lang="en-IN" sz="9600" b="0" i="0" u="none" strike="noStrike" dirty="0">
                <a:solidFill>
                  <a:srgbClr val="008EC2"/>
                </a:solidFill>
                <a:effectLst/>
                <a:latin typeface="Arial" panose="020B0604020202020204" pitchFamily="34" charset="0"/>
              </a:rPr>
              <a:t> </a:t>
            </a:r>
            <a:r>
              <a:rPr lang="en-IN" sz="9600" b="1" i="0" u="none" strike="noStrike" dirty="0">
                <a:solidFill>
                  <a:srgbClr val="008EC2"/>
                </a:solidFill>
                <a:effectLst/>
                <a:latin typeface="Arial" panose="020B0604020202020204" pitchFamily="34" charset="0"/>
              </a:rPr>
              <a:t>LINE</a:t>
            </a:r>
            <a:endParaRPr lang="en-IN" b="1" dirty="0">
              <a:effectLst/>
            </a:endParaRPr>
          </a:p>
          <a:p>
            <a:br>
              <a:rPr lang="en-IN" dirty="0"/>
            </a:br>
            <a:endParaRPr lang="en-IN" dirty="0"/>
          </a:p>
        </p:txBody>
      </p:sp>
    </p:spTree>
    <p:extLst>
      <p:ext uri="{BB962C8B-B14F-4D97-AF65-F5344CB8AC3E}">
        <p14:creationId xmlns:p14="http://schemas.microsoft.com/office/powerpoint/2010/main" val="3808910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93EC05-1506-5151-9A39-6328CD47DF96}"/>
              </a:ext>
            </a:extLst>
          </p:cNvPr>
          <p:cNvSpPr txBox="1"/>
          <p:nvPr/>
        </p:nvSpPr>
        <p:spPr>
          <a:xfrm>
            <a:off x="89452" y="89452"/>
            <a:ext cx="12102547" cy="7109639"/>
          </a:xfrm>
          <a:prstGeom prst="rect">
            <a:avLst/>
          </a:prstGeom>
          <a:noFill/>
        </p:spPr>
        <p:txBody>
          <a:bodyPr wrap="square">
            <a:spAutoFit/>
          </a:bodyPr>
          <a:lstStyle/>
          <a:p>
            <a:pPr marL="571500" indent="-571500">
              <a:buFont typeface="Wingdings" panose="05000000000000000000" pitchFamily="2" charset="2"/>
              <a:buChar char="q"/>
            </a:pPr>
            <a:r>
              <a:rPr lang="en-IN" sz="4400" b="1" i="0" u="none" strike="noStrike" dirty="0">
                <a:solidFill>
                  <a:schemeClr val="tx1"/>
                </a:solidFill>
                <a:effectLst/>
                <a:latin typeface="Arial" panose="020B0604020202020204" pitchFamily="34" charset="0"/>
              </a:rPr>
              <a:t>PIPE LINE</a:t>
            </a:r>
            <a:endParaRPr lang="en-IN" sz="4400" b="1" i="0" u="none" strike="noStrike" dirty="0">
              <a:solidFill>
                <a:schemeClr val="tx1"/>
              </a:solidFill>
              <a:latin typeface="Arial" panose="020B0604020202020204" pitchFamily="34" charset="0"/>
            </a:endParaRPr>
          </a:p>
          <a:p>
            <a:endParaRPr lang="en-US" sz="4000" b="1" dirty="0"/>
          </a:p>
          <a:p>
            <a:r>
              <a:rPr lang="en-US" sz="4000" b="1" dirty="0"/>
              <a:t> 1. </a:t>
            </a:r>
            <a:r>
              <a:rPr lang="en-US" sz="3200" b="1" dirty="0"/>
              <a:t>AUTOMATES THE WORKFLOW</a:t>
            </a:r>
          </a:p>
          <a:p>
            <a:pPr>
              <a:buFont typeface="Arial" panose="020B0604020202020204" pitchFamily="34" charset="0"/>
              <a:buChar char="•"/>
            </a:pPr>
            <a:r>
              <a:rPr lang="en-US" sz="2800" dirty="0"/>
              <a:t>ML INVOLVES MULTIPLE STEPS: DATA PREPROCESSING, FEATURE ENGINEERING, MODEL TRAINING, AND EVALUATION. A PIPELINE AUTOMATES THESE STEPS, ENSURING CONSISTENCY AND SAVING TIME.</a:t>
            </a:r>
          </a:p>
          <a:p>
            <a:endParaRPr lang="en-US" sz="4000" b="1" dirty="0"/>
          </a:p>
          <a:p>
            <a:r>
              <a:rPr lang="en-US" sz="4000" b="1" dirty="0"/>
              <a:t> 2. </a:t>
            </a:r>
            <a:r>
              <a:rPr lang="en-US" sz="3200" b="1" dirty="0"/>
              <a:t>MODULAR DESIGN</a:t>
            </a:r>
          </a:p>
          <a:p>
            <a:pPr>
              <a:buFont typeface="Arial" panose="020B0604020202020204" pitchFamily="34" charset="0"/>
              <a:buChar char="•"/>
            </a:pPr>
            <a:r>
              <a:rPr lang="en-US" sz="2800" dirty="0"/>
              <a:t>PIPELINES BREAK DOWN COMPLEX ML WORKFLOWS INTO SMALLER, MANAGEABLE COMPONENTS (E.G., SCALING, ENCODING, MODELING). EACH MODULE IS REUSABLE AND CAN BE TESTED INDEPENDENTLY.</a:t>
            </a:r>
          </a:p>
          <a:p>
            <a:br>
              <a:rPr lang="en-IN" b="0" dirty="0">
                <a:effectLst/>
              </a:rPr>
            </a:br>
            <a:endParaRPr lang="en-IN" dirty="0"/>
          </a:p>
        </p:txBody>
      </p:sp>
    </p:spTree>
    <p:extLst>
      <p:ext uri="{BB962C8B-B14F-4D97-AF65-F5344CB8AC3E}">
        <p14:creationId xmlns:p14="http://schemas.microsoft.com/office/powerpoint/2010/main" val="1421661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483C5A-1E98-B737-3346-0063B932B831}"/>
              </a:ext>
            </a:extLst>
          </p:cNvPr>
          <p:cNvSpPr txBox="1"/>
          <p:nvPr/>
        </p:nvSpPr>
        <p:spPr>
          <a:xfrm>
            <a:off x="0" y="859065"/>
            <a:ext cx="11529390" cy="5139869"/>
          </a:xfrm>
          <a:prstGeom prst="rect">
            <a:avLst/>
          </a:prstGeom>
          <a:noFill/>
        </p:spPr>
        <p:txBody>
          <a:bodyPr wrap="square">
            <a:spAutoFit/>
          </a:bodyPr>
          <a:lstStyle/>
          <a:p>
            <a:r>
              <a:rPr lang="en-US" sz="4000" b="1" dirty="0"/>
              <a:t> 3. </a:t>
            </a:r>
            <a:r>
              <a:rPr lang="en-US" sz="3200" b="1" dirty="0"/>
              <a:t>ENABLES EXPERIMENTATION</a:t>
            </a:r>
          </a:p>
          <a:p>
            <a:pPr>
              <a:buFont typeface="Arial" panose="020B0604020202020204" pitchFamily="34" charset="0"/>
              <a:buChar char="•"/>
            </a:pPr>
            <a:r>
              <a:rPr lang="en-US" sz="2800" dirty="0"/>
              <a:t>PIPELINES MAKE IT EASIER TO TEST DIFFERENT PREPROCESSING TECHNIQUES OR MODELS BY SWAPPING COMPONENTS WITHOUT BREAKING THE WORKFLOW.</a:t>
            </a:r>
          </a:p>
          <a:p>
            <a:r>
              <a:rPr lang="en-US" sz="4000" b="1" dirty="0"/>
              <a:t> </a:t>
            </a:r>
          </a:p>
          <a:p>
            <a:endParaRPr lang="en-US" sz="4000" b="1" dirty="0"/>
          </a:p>
          <a:p>
            <a:r>
              <a:rPr lang="en-US" sz="4000" b="1" dirty="0"/>
              <a:t>4. </a:t>
            </a:r>
            <a:r>
              <a:rPr lang="en-US" sz="3200" b="1" dirty="0"/>
              <a:t>REPRODUCIBILITY</a:t>
            </a:r>
          </a:p>
          <a:p>
            <a:pPr>
              <a:buFont typeface="Arial" panose="020B0604020202020204" pitchFamily="34" charset="0"/>
              <a:buChar char="•"/>
            </a:pPr>
            <a:r>
              <a:rPr lang="en-US" sz="2800" dirty="0"/>
              <a:t>A PIPELINE PROVIDES A DOCUMENTED AND EXECUTABLE SEQUENCE OF STEPS, ENSURING THE SAME PROCESS CAN BE REPLICATED ACROSS TEAMS OR PROJECTS.</a:t>
            </a:r>
          </a:p>
        </p:txBody>
      </p:sp>
    </p:spTree>
    <p:extLst>
      <p:ext uri="{BB962C8B-B14F-4D97-AF65-F5344CB8AC3E}">
        <p14:creationId xmlns:p14="http://schemas.microsoft.com/office/powerpoint/2010/main" val="3980212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DDC53E1-373C-58B4-77F1-5B520D69BF87}"/>
              </a:ext>
            </a:extLst>
          </p:cNvPr>
          <p:cNvSpPr txBox="1"/>
          <p:nvPr/>
        </p:nvSpPr>
        <p:spPr>
          <a:xfrm>
            <a:off x="99392" y="874454"/>
            <a:ext cx="12192000" cy="4739759"/>
          </a:xfrm>
          <a:prstGeom prst="rect">
            <a:avLst/>
          </a:prstGeom>
          <a:noFill/>
        </p:spPr>
        <p:txBody>
          <a:bodyPr wrap="square">
            <a:spAutoFit/>
          </a:bodyPr>
          <a:lstStyle/>
          <a:p>
            <a:r>
              <a:rPr lang="en-US" sz="3200" b="1" dirty="0"/>
              <a:t> 5. SCALABLE DEPLOYMENT</a:t>
            </a:r>
          </a:p>
          <a:p>
            <a:pPr>
              <a:buFont typeface="Arial" panose="020B0604020202020204" pitchFamily="34" charset="0"/>
              <a:buChar char="•"/>
            </a:pPr>
            <a:r>
              <a:rPr lang="en-US" sz="2800" dirty="0"/>
              <a:t>FOR PRODUCTION SYSTEMS, PIPELINES ALLOW SEAMLESS DEPLOYMENT OF THE FULL ML PROCESS, FROM DATA INGESTION TO INFERENCE.</a:t>
            </a:r>
          </a:p>
          <a:p>
            <a:pPr>
              <a:buFont typeface="Arial" panose="020B0604020202020204" pitchFamily="34" charset="0"/>
              <a:buChar char="•"/>
            </a:pPr>
            <a:endParaRPr lang="en-US" dirty="0"/>
          </a:p>
          <a:p>
            <a:pPr>
              <a:buFont typeface="Arial" panose="020B0604020202020204" pitchFamily="34" charset="0"/>
              <a:buChar char="•"/>
            </a:pPr>
            <a:endParaRPr lang="en-US" sz="1400" dirty="0"/>
          </a:p>
          <a:p>
            <a:pPr>
              <a:buFont typeface="Arial" panose="020B0604020202020204" pitchFamily="34" charset="0"/>
              <a:buChar char="•"/>
            </a:pPr>
            <a:endParaRPr lang="en-US" dirty="0"/>
          </a:p>
          <a:p>
            <a:pPr>
              <a:buFont typeface="Arial" panose="020B0604020202020204" pitchFamily="34" charset="0"/>
              <a:buChar char="•"/>
            </a:pPr>
            <a:endParaRPr lang="en-US" sz="1400" dirty="0"/>
          </a:p>
          <a:p>
            <a:endParaRPr lang="en-US" sz="1400" dirty="0"/>
          </a:p>
          <a:p>
            <a:r>
              <a:rPr lang="en-US" sz="3200" b="1" dirty="0"/>
              <a:t>6. OPTIMIZES HYPERPARAMETER TUNING</a:t>
            </a:r>
          </a:p>
          <a:p>
            <a:pPr>
              <a:buFont typeface="Arial" panose="020B0604020202020204" pitchFamily="34" charset="0"/>
              <a:buChar char="•"/>
            </a:pPr>
            <a:r>
              <a:rPr lang="en-US" sz="2800" dirty="0"/>
              <a:t>MANY FRAMEWORKS ALLOW INTEGRATION OF HYPERPARAMETER TUNING INTO PIPELINES, ENSURING OPTIMIZATION ACROSS PREPROCESSING AND MODEL TRAINING SIMULTANEOUSLY.</a:t>
            </a:r>
          </a:p>
        </p:txBody>
      </p:sp>
    </p:spTree>
    <p:extLst>
      <p:ext uri="{BB962C8B-B14F-4D97-AF65-F5344CB8AC3E}">
        <p14:creationId xmlns:p14="http://schemas.microsoft.com/office/powerpoint/2010/main" val="1180828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122A86-AFF6-BE19-C34B-DBF50149540C}"/>
              </a:ext>
            </a:extLst>
          </p:cNvPr>
          <p:cNvSpPr txBox="1"/>
          <p:nvPr/>
        </p:nvSpPr>
        <p:spPr>
          <a:xfrm>
            <a:off x="788193" y="1472327"/>
            <a:ext cx="10615613" cy="3693319"/>
          </a:xfrm>
          <a:prstGeom prst="rect">
            <a:avLst/>
          </a:prstGeom>
          <a:noFill/>
        </p:spPr>
        <p:txBody>
          <a:bodyPr wrap="square">
            <a:spAutoFit/>
          </a:bodyPr>
          <a:lstStyle/>
          <a:p>
            <a:pPr rtl="0"/>
            <a:r>
              <a:rPr lang="en-IN" sz="9600" b="0" i="0" u="none" strike="noStrike" dirty="0">
                <a:solidFill>
                  <a:srgbClr val="008EC2"/>
                </a:solidFill>
                <a:effectLst/>
                <a:latin typeface="Arial" panose="020B0604020202020204" pitchFamily="34" charset="0"/>
              </a:rPr>
              <a:t>PROJECT</a:t>
            </a:r>
            <a:endParaRPr lang="en-IN" b="0" dirty="0">
              <a:effectLst/>
            </a:endParaRPr>
          </a:p>
          <a:p>
            <a:pPr rtl="0"/>
            <a:br>
              <a:rPr lang="en-IN" b="0" dirty="0">
                <a:effectLst/>
              </a:rPr>
            </a:br>
            <a:r>
              <a:rPr lang="en-IN" sz="9600" b="0" i="0" u="none" strike="noStrike" dirty="0">
                <a:solidFill>
                  <a:srgbClr val="FEA002"/>
                </a:solidFill>
                <a:effectLst/>
                <a:latin typeface="Arial" panose="020B0604020202020204" pitchFamily="34" charset="0"/>
              </a:rPr>
              <a:t>CHALLENGES</a:t>
            </a:r>
            <a:endParaRPr lang="en-IN" b="0" dirty="0">
              <a:effectLst/>
            </a:endParaRPr>
          </a:p>
          <a:p>
            <a:br>
              <a:rPr lang="en-IN" dirty="0"/>
            </a:br>
            <a:endParaRPr lang="en-IN" dirty="0"/>
          </a:p>
        </p:txBody>
      </p:sp>
    </p:spTree>
    <p:extLst>
      <p:ext uri="{BB962C8B-B14F-4D97-AF65-F5344CB8AC3E}">
        <p14:creationId xmlns:p14="http://schemas.microsoft.com/office/powerpoint/2010/main" val="3913315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03339E-8029-74A6-C085-681832486BD3}"/>
              </a:ext>
            </a:extLst>
          </p:cNvPr>
          <p:cNvSpPr txBox="1"/>
          <p:nvPr/>
        </p:nvSpPr>
        <p:spPr>
          <a:xfrm>
            <a:off x="0" y="0"/>
            <a:ext cx="12192000" cy="7417415"/>
          </a:xfrm>
          <a:prstGeom prst="rect">
            <a:avLst/>
          </a:prstGeom>
          <a:noFill/>
        </p:spPr>
        <p:txBody>
          <a:bodyPr wrap="square">
            <a:spAutoFit/>
          </a:bodyPr>
          <a:lstStyle/>
          <a:p>
            <a:pPr marL="342900" indent="-342900" algn="ctr" rtl="0">
              <a:buFont typeface="Wingdings" panose="05000000000000000000" pitchFamily="2" charset="2"/>
              <a:buChar char="q"/>
            </a:pPr>
            <a:r>
              <a:rPr lang="en-IN" sz="4400" b="1" i="0" u="none" strike="noStrike" dirty="0">
                <a:solidFill>
                  <a:schemeClr val="tx1"/>
                </a:solidFill>
                <a:effectLst/>
                <a:latin typeface="Arial" panose="020B0604020202020204" pitchFamily="34" charset="0"/>
              </a:rPr>
              <a:t>PROJECT CHALLENGES </a:t>
            </a:r>
            <a:endParaRPr lang="en-IN" sz="4400" b="1" dirty="0">
              <a:solidFill>
                <a:schemeClr val="tx1"/>
              </a:solidFill>
              <a:effectLst/>
            </a:endParaRPr>
          </a:p>
          <a:p>
            <a:pPr>
              <a:buFont typeface="Arial" panose="020B0604020202020204" pitchFamily="34" charset="0"/>
              <a:buChar char="•"/>
            </a:pPr>
            <a:r>
              <a:rPr lang="en-US" sz="2400" dirty="0">
                <a:solidFill>
                  <a:schemeClr val="tx1"/>
                </a:solidFill>
              </a:rPr>
              <a:t>THE DATA WAS UNSTRUCTURED AND NOT PROPERLY ORGANIZED.</a:t>
            </a:r>
          </a:p>
          <a:p>
            <a:endParaRPr lang="en-US" sz="2400" dirty="0">
              <a:solidFill>
                <a:schemeClr val="tx1"/>
              </a:solidFill>
            </a:endParaRPr>
          </a:p>
          <a:p>
            <a:pPr>
              <a:buFont typeface="Arial" panose="020B0604020202020204" pitchFamily="34" charset="0"/>
              <a:buChar char="•"/>
            </a:pPr>
            <a:r>
              <a:rPr lang="en-US" sz="2400" dirty="0">
                <a:solidFill>
                  <a:schemeClr val="tx1"/>
                </a:solidFill>
              </a:rPr>
              <a:t>THE COLUMNS FOR QUALITY AND COMP_A TO COMP_L CONTAINED DOUBLE HEADERS, MAKING IT A CHALLENGE TO CONVERT THEM INTO SINGLE HEADERS AND CORRECTLY MAP THE VALUES.</a:t>
            </a:r>
          </a:p>
          <a:p>
            <a:endParaRPr lang="en-US" sz="2400" dirty="0">
              <a:solidFill>
                <a:schemeClr val="tx1"/>
              </a:solidFill>
            </a:endParaRPr>
          </a:p>
          <a:p>
            <a:pPr>
              <a:buFont typeface="Arial" panose="020B0604020202020204" pitchFamily="34" charset="0"/>
              <a:buChar char="•"/>
            </a:pPr>
            <a:r>
              <a:rPr lang="en-US" sz="2400" dirty="0">
                <a:solidFill>
                  <a:schemeClr val="tx1"/>
                </a:solidFill>
              </a:rPr>
              <a:t>THE DATASET INITIALLY CONTAINED OVER A MILLION ROWS, BUT AFTER DATA CLEANING AND REMOVING NULL VALUES, IT WAS REDUCED TO JUST 250 ROWS.</a:t>
            </a:r>
          </a:p>
          <a:p>
            <a:endParaRPr lang="en-US" sz="2400" dirty="0">
              <a:solidFill>
                <a:schemeClr val="tx1"/>
              </a:solidFill>
            </a:endParaRPr>
          </a:p>
          <a:p>
            <a:pPr>
              <a:buFont typeface="Arial" panose="020B0604020202020204" pitchFamily="34" charset="0"/>
              <a:buChar char="•"/>
            </a:pPr>
            <a:r>
              <a:rPr lang="en-US" sz="2400" dirty="0">
                <a:solidFill>
                  <a:schemeClr val="tx1"/>
                </a:solidFill>
              </a:rPr>
              <a:t>WITH SUCH A SMALL DATASET OF ONLY 250 DATA POINTS, IT BECAME DIFFICULT TO EFFECTIVELY TRAIN THE MODEL.</a:t>
            </a:r>
          </a:p>
          <a:p>
            <a:endParaRPr lang="en-US" sz="2400" dirty="0">
              <a:solidFill>
                <a:schemeClr val="tx1"/>
              </a:solidFill>
            </a:endParaRPr>
          </a:p>
          <a:p>
            <a:pPr>
              <a:buFont typeface="Arial" panose="020B0604020202020204" pitchFamily="34" charset="0"/>
              <a:buChar char="•"/>
            </a:pPr>
            <a:r>
              <a:rPr lang="en-US" sz="2400" dirty="0">
                <a:solidFill>
                  <a:schemeClr val="tx1"/>
                </a:solidFill>
              </a:rPr>
              <a:t>THE DATASET CONTAINED SIGNIFICANT QUALITY ISSUES, INCLUDING INCOMPLETE AND INCONSISTENT DATA.</a:t>
            </a:r>
          </a:p>
          <a:p>
            <a:endParaRPr lang="en-US" sz="2400" dirty="0"/>
          </a:p>
          <a:p>
            <a:pPr rtl="0"/>
            <a:br>
              <a:rPr lang="en-IN" sz="2400" b="0" dirty="0">
                <a:effectLst/>
              </a:rPr>
            </a:br>
            <a:r>
              <a:rPr lang="en-IN" sz="2400" b="0" i="0" u="none" strike="noStrike" dirty="0">
                <a:solidFill>
                  <a:srgbClr val="FEA002"/>
                </a:solidFill>
                <a:effectLst/>
                <a:latin typeface="Arial" panose="020B0604020202020204" pitchFamily="34" charset="0"/>
              </a:rPr>
              <a:t> </a:t>
            </a:r>
          </a:p>
        </p:txBody>
      </p:sp>
    </p:spTree>
    <p:extLst>
      <p:ext uri="{BB962C8B-B14F-4D97-AF65-F5344CB8AC3E}">
        <p14:creationId xmlns:p14="http://schemas.microsoft.com/office/powerpoint/2010/main" val="1003393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cxnSp>
        <p:nvCxnSpPr>
          <p:cNvPr id="490" name="Google Shape;490;p60"/>
          <p:cNvCxnSpPr/>
          <p:nvPr/>
        </p:nvCxnSpPr>
        <p:spPr>
          <a:xfrm>
            <a:off x="0" y="6464596"/>
            <a:ext cx="9597656" cy="0"/>
          </a:xfrm>
          <a:prstGeom prst="straightConnector1">
            <a:avLst/>
          </a:prstGeom>
          <a:noFill/>
          <a:ln w="9525" cap="flat" cmpd="sng">
            <a:solidFill>
              <a:srgbClr val="3B7FF2"/>
            </a:solidFill>
            <a:prstDash val="solid"/>
            <a:round/>
            <a:headEnd type="none" w="sm" len="sm"/>
            <a:tailEnd type="none" w="sm" len="sm"/>
          </a:ln>
        </p:spPr>
      </p:cxnSp>
      <p:pic>
        <p:nvPicPr>
          <p:cNvPr id="491" name="Google Shape;491;p60" descr="Attitudes 2 Animal Cognition Survey – The Anthrozoologist"/>
          <p:cNvPicPr preferRelativeResize="0"/>
          <p:nvPr/>
        </p:nvPicPr>
        <p:blipFill rotWithShape="1">
          <a:blip r:embed="rId3">
            <a:alphaModFix/>
          </a:blip>
          <a:srcRect/>
          <a:stretch/>
        </p:blipFill>
        <p:spPr>
          <a:xfrm>
            <a:off x="0" y="200533"/>
            <a:ext cx="12192000" cy="4182737"/>
          </a:xfrm>
          <a:prstGeom prst="rect">
            <a:avLst/>
          </a:prstGeom>
          <a:noFill/>
          <a:ln>
            <a:noFill/>
          </a:ln>
        </p:spPr>
      </p:pic>
      <p:pic>
        <p:nvPicPr>
          <p:cNvPr id="5" name="Picture 2" descr="360DigiTMG Reviews - 52 Reviews of 360digitmg.com | Sitejabb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30684" y="5849129"/>
            <a:ext cx="2277039" cy="8083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9935FF8-7D89-8568-93FF-F4AAEC99501B}"/>
              </a:ext>
            </a:extLst>
          </p:cNvPr>
          <p:cNvSpPr txBox="1"/>
          <p:nvPr/>
        </p:nvSpPr>
        <p:spPr>
          <a:xfrm>
            <a:off x="0" y="4167567"/>
            <a:ext cx="9346408" cy="1938992"/>
          </a:xfrm>
          <a:prstGeom prst="rect">
            <a:avLst/>
          </a:prstGeom>
          <a:noFill/>
        </p:spPr>
        <p:txBody>
          <a:bodyPr wrap="square">
            <a:spAutoFit/>
          </a:bodyPr>
          <a:lstStyle/>
          <a:p>
            <a:r>
              <a:rPr lang="en-US" sz="2400" dirty="0"/>
              <a:t>IF YOU HAVE ANY QUESTIONS OR NEED FURTHER CLARIFICATION, FEEL FREE TO ASK.</a:t>
            </a:r>
          </a:p>
          <a:p>
            <a:endParaRPr lang="en-US" sz="2400" b="1" dirty="0"/>
          </a:p>
          <a:p>
            <a:r>
              <a:rPr lang="en-US" sz="2400" b="1" dirty="0"/>
              <a:t>PRESENTED BY:</a:t>
            </a:r>
            <a:br>
              <a:rPr lang="en-US" sz="2400" dirty="0"/>
            </a:br>
            <a:r>
              <a:rPr lang="en-US" sz="2400" b="1" dirty="0"/>
              <a:t>MANDEEP SINGH THAKUR</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221</TotalTime>
  <Words>1023</Words>
  <Application>Microsoft Office PowerPoint</Application>
  <PresentationFormat>Widescreen</PresentationFormat>
  <Paragraphs>178</Paragraphs>
  <Slides>24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Wingdings</vt:lpstr>
      <vt:lpstr>Times New Roman</vt:lpstr>
      <vt:lpstr>Arial</vt:lpstr>
      <vt:lpstr>Calibri</vt:lpstr>
      <vt:lpstr>Office Theme</vt:lpstr>
      <vt:lpstr>PowerPoint Presentation</vt:lpstr>
      <vt:lpstr>PowerPoint Presentation</vt:lpstr>
      <vt:lpstr>PowerPoint Presentation</vt:lpstr>
      <vt:lpstr>PowerPoint Presentation</vt:lpstr>
      <vt:lpstr>PowerPoint Presentation</vt:lpstr>
      <vt:lpstr>           EDA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VIKAS BARTHWAL</dc:creator>
  <cp:lastModifiedBy>Thakur, Mandeep Singh</cp:lastModifiedBy>
  <cp:revision>40</cp:revision>
  <dcterms:created xsi:type="dcterms:W3CDTF">2022-02-16T01:47:29Z</dcterms:created>
  <dcterms:modified xsi:type="dcterms:W3CDTF">2024-11-29T12:40:48Z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49deba9595b64033890e84905b5c3bc0</vt:lpwstr>
  </property>
</Properties>
</file>